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70" r:id="rId14"/>
    <p:sldId id="263" r:id="rId15"/>
  </p:sldIdLst>
  <p:sldSz cx="18288000" cy="10287000"/>
  <p:notesSz cx="6858000" cy="9144000"/>
  <p:embeddedFontLst>
    <p:embeddedFont>
      <p:font typeface="Canva San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0CB5E1-F096-132E-069B-9EC63002F53F}" name="Microsoft Word" initials="word" userId="Microsoft Word"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0151" autoAdjust="0"/>
  </p:normalViewPr>
  <p:slideViewPr>
    <p:cSldViewPr>
      <p:cViewPr varScale="1">
        <p:scale>
          <a:sx n="32" d="100"/>
          <a:sy n="32" d="100"/>
        </p:scale>
        <p:origin x="48" y="3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62FEE5-A65F-492E-8273-DE2A7A16507F}" type="doc">
      <dgm:prSet loTypeId="urn:microsoft.com/office/officeart/2005/8/layout/process2" loCatId="process" qsTypeId="urn:microsoft.com/office/officeart/2005/8/quickstyle/simple1" qsCatId="simple" csTypeId="urn:microsoft.com/office/officeart/2005/8/colors/colorful1" csCatId="colorful" phldr="1"/>
      <dgm:spPr/>
      <dgm:t>
        <a:bodyPr/>
        <a:lstStyle/>
        <a:p>
          <a:endParaRPr lang="en-GB"/>
        </a:p>
      </dgm:t>
    </dgm:pt>
    <dgm:pt modelId="{DD1BD820-D8B7-4628-9389-8E098E6A1C98}">
      <dgm:prSet phldrT="[Text]" phldr="0" custT="1"/>
      <dgm:spPr/>
      <dgm:t>
        <a:bodyPr/>
        <a:lstStyle/>
        <a:p>
          <a:r>
            <a:rPr lang="en-GB" sz="1800" dirty="0"/>
            <a:t>Financial Transaction Dataset</a:t>
          </a:r>
        </a:p>
      </dgm:t>
    </dgm:pt>
    <dgm:pt modelId="{EC55C04A-A013-42ED-8D92-7074480E5D72}" type="parTrans" cxnId="{4BE418DD-3186-4783-AA4F-FE368A159F0A}">
      <dgm:prSet/>
      <dgm:spPr/>
      <dgm:t>
        <a:bodyPr/>
        <a:lstStyle/>
        <a:p>
          <a:endParaRPr lang="en-GB"/>
        </a:p>
      </dgm:t>
    </dgm:pt>
    <dgm:pt modelId="{FF4D8D18-2797-4058-9DE1-BA707E827D14}" type="sibTrans" cxnId="{4BE418DD-3186-4783-AA4F-FE368A159F0A}">
      <dgm:prSet custT="1"/>
      <dgm:spPr/>
      <dgm:t>
        <a:bodyPr/>
        <a:lstStyle/>
        <a:p>
          <a:endParaRPr lang="en-GB" sz="1100"/>
        </a:p>
      </dgm:t>
    </dgm:pt>
    <dgm:pt modelId="{B62B4397-9DC5-484B-8036-D82B6987BE77}">
      <dgm:prSet phldrT="[Text]" phldr="0" custT="1"/>
      <dgm:spPr/>
      <dgm:t>
        <a:bodyPr/>
        <a:lstStyle/>
        <a:p>
          <a:r>
            <a:rPr lang="en-GB" sz="1800" dirty="0"/>
            <a:t>Data Acquisition</a:t>
          </a:r>
        </a:p>
      </dgm:t>
    </dgm:pt>
    <dgm:pt modelId="{5074657B-F407-458D-9A8E-0D982C5CCEF8}" type="parTrans" cxnId="{A4994BD8-7323-4051-8B24-236239F93EA1}">
      <dgm:prSet/>
      <dgm:spPr/>
      <dgm:t>
        <a:bodyPr/>
        <a:lstStyle/>
        <a:p>
          <a:endParaRPr lang="en-GB"/>
        </a:p>
      </dgm:t>
    </dgm:pt>
    <dgm:pt modelId="{1C472785-7A41-4C5D-944E-F83234F59834}" type="sibTrans" cxnId="{A4994BD8-7323-4051-8B24-236239F93EA1}">
      <dgm:prSet custT="1"/>
      <dgm:spPr/>
      <dgm:t>
        <a:bodyPr/>
        <a:lstStyle/>
        <a:p>
          <a:endParaRPr lang="en-GB" sz="1100"/>
        </a:p>
      </dgm:t>
    </dgm:pt>
    <dgm:pt modelId="{0F2F2991-50AA-4DD0-8FEF-8D680F956F4A}">
      <dgm:prSet phldrT="[Text]" phldr="0" custT="1"/>
      <dgm:spPr/>
      <dgm:t>
        <a:bodyPr/>
        <a:lstStyle/>
        <a:p>
          <a:r>
            <a:rPr lang="en-GB" sz="1800" dirty="0"/>
            <a:t>PySpark Loading</a:t>
          </a:r>
        </a:p>
      </dgm:t>
    </dgm:pt>
    <dgm:pt modelId="{0A35A708-10C2-47E0-B510-FCDD663D006E}" type="parTrans" cxnId="{87607DA3-3A5A-4C97-A94F-944CDEBC37A3}">
      <dgm:prSet/>
      <dgm:spPr/>
      <dgm:t>
        <a:bodyPr/>
        <a:lstStyle/>
        <a:p>
          <a:endParaRPr lang="en-GB"/>
        </a:p>
      </dgm:t>
    </dgm:pt>
    <dgm:pt modelId="{3CBA43F8-4EF7-4C2C-A9CB-74281CC39BCD}" type="sibTrans" cxnId="{87607DA3-3A5A-4C97-A94F-944CDEBC37A3}">
      <dgm:prSet custT="1"/>
      <dgm:spPr/>
      <dgm:t>
        <a:bodyPr/>
        <a:lstStyle/>
        <a:p>
          <a:endParaRPr lang="en-GB" sz="1100"/>
        </a:p>
      </dgm:t>
    </dgm:pt>
    <dgm:pt modelId="{A7598204-7E67-4681-AD77-C25C0998538C}">
      <dgm:prSet custT="1"/>
      <dgm:spPr/>
      <dgm:t>
        <a:bodyPr/>
        <a:lstStyle/>
        <a:p>
          <a:r>
            <a:rPr lang="en-GB" sz="1800" dirty="0"/>
            <a:t>Data Inspection and Cleaning</a:t>
          </a:r>
        </a:p>
      </dgm:t>
    </dgm:pt>
    <dgm:pt modelId="{74FF2E1C-6882-4FFB-8073-3D5060B3DDBA}" type="parTrans" cxnId="{47C23343-CB21-4C19-8FF2-A0C2B807389F}">
      <dgm:prSet/>
      <dgm:spPr/>
      <dgm:t>
        <a:bodyPr/>
        <a:lstStyle/>
        <a:p>
          <a:endParaRPr lang="en-GB"/>
        </a:p>
      </dgm:t>
    </dgm:pt>
    <dgm:pt modelId="{7F21DA0F-57A6-4B89-B1F2-36C6CA7BE477}" type="sibTrans" cxnId="{47C23343-CB21-4C19-8FF2-A0C2B807389F}">
      <dgm:prSet custT="1"/>
      <dgm:spPr/>
      <dgm:t>
        <a:bodyPr/>
        <a:lstStyle/>
        <a:p>
          <a:endParaRPr lang="en-GB" sz="1100"/>
        </a:p>
      </dgm:t>
    </dgm:pt>
    <dgm:pt modelId="{86B6ACF3-FBA6-4E8F-B8AC-191CAD6D7037}">
      <dgm:prSet custT="1"/>
      <dgm:spPr/>
      <dgm:t>
        <a:bodyPr/>
        <a:lstStyle/>
        <a:p>
          <a:r>
            <a:rPr lang="en-GB" sz="1800" dirty="0"/>
            <a:t>Feature Engineering</a:t>
          </a:r>
        </a:p>
      </dgm:t>
    </dgm:pt>
    <dgm:pt modelId="{B9C676D5-70AC-42C3-AB80-F06C08FFB38C}" type="parTrans" cxnId="{C802E4B5-DFB0-40EC-8BA0-F545EAACE774}">
      <dgm:prSet/>
      <dgm:spPr/>
      <dgm:t>
        <a:bodyPr/>
        <a:lstStyle/>
        <a:p>
          <a:endParaRPr lang="en-GB"/>
        </a:p>
      </dgm:t>
    </dgm:pt>
    <dgm:pt modelId="{C88A9802-E833-4264-AAB9-9D10CD8CE43E}" type="sibTrans" cxnId="{C802E4B5-DFB0-40EC-8BA0-F545EAACE774}">
      <dgm:prSet custT="1"/>
      <dgm:spPr/>
      <dgm:t>
        <a:bodyPr/>
        <a:lstStyle/>
        <a:p>
          <a:endParaRPr lang="en-GB" sz="1100"/>
        </a:p>
      </dgm:t>
    </dgm:pt>
    <dgm:pt modelId="{C31DDEE7-5828-4EA8-BC75-E83800DD4064}">
      <dgm:prSet custT="1"/>
      <dgm:spPr/>
      <dgm:t>
        <a:bodyPr/>
        <a:lstStyle/>
        <a:p>
          <a:r>
            <a:rPr lang="en-GB" sz="1800" dirty="0"/>
            <a:t>Exploratory Data Analysis</a:t>
          </a:r>
        </a:p>
      </dgm:t>
    </dgm:pt>
    <dgm:pt modelId="{017F22E3-FA80-4566-B752-5160FA25E499}" type="parTrans" cxnId="{6C3680FC-312D-4CC9-A307-A859C5FF0EF8}">
      <dgm:prSet/>
      <dgm:spPr/>
      <dgm:t>
        <a:bodyPr/>
        <a:lstStyle/>
        <a:p>
          <a:endParaRPr lang="en-GB"/>
        </a:p>
      </dgm:t>
    </dgm:pt>
    <dgm:pt modelId="{532FAAD7-FA04-49BD-A148-04ECF9FE7AEE}" type="sibTrans" cxnId="{6C3680FC-312D-4CC9-A307-A859C5FF0EF8}">
      <dgm:prSet custT="1"/>
      <dgm:spPr/>
      <dgm:t>
        <a:bodyPr/>
        <a:lstStyle/>
        <a:p>
          <a:endParaRPr lang="en-GB" sz="1100"/>
        </a:p>
      </dgm:t>
    </dgm:pt>
    <dgm:pt modelId="{BCE20952-F1DB-4A12-8EA6-52E523D0AD35}">
      <dgm:prSet custT="1"/>
      <dgm:spPr/>
      <dgm:t>
        <a:bodyPr/>
        <a:lstStyle/>
        <a:p>
          <a:r>
            <a:rPr lang="en-GB" sz="1800" dirty="0"/>
            <a:t>Spark ML Pipeline</a:t>
          </a:r>
        </a:p>
      </dgm:t>
    </dgm:pt>
    <dgm:pt modelId="{9768B159-C6AB-4073-9917-DD4B641FACB2}" type="parTrans" cxnId="{2EF6A0FB-1DF6-4E39-A904-DA6D5D7BED09}">
      <dgm:prSet/>
      <dgm:spPr/>
      <dgm:t>
        <a:bodyPr/>
        <a:lstStyle/>
        <a:p>
          <a:endParaRPr lang="en-GB"/>
        </a:p>
      </dgm:t>
    </dgm:pt>
    <dgm:pt modelId="{386484A0-37C2-4B38-8B0E-CF683FB1F2DD}" type="sibTrans" cxnId="{2EF6A0FB-1DF6-4E39-A904-DA6D5D7BED09}">
      <dgm:prSet custT="1"/>
      <dgm:spPr/>
      <dgm:t>
        <a:bodyPr/>
        <a:lstStyle/>
        <a:p>
          <a:endParaRPr lang="en-GB" sz="1100"/>
        </a:p>
      </dgm:t>
    </dgm:pt>
    <dgm:pt modelId="{F720D593-E543-4031-832D-3CD7F5DFB650}">
      <dgm:prSet custT="1"/>
      <dgm:spPr/>
      <dgm:t>
        <a:bodyPr/>
        <a:lstStyle/>
        <a:p>
          <a:r>
            <a:rPr lang="en-GB" sz="1800" dirty="0"/>
            <a:t>Model Evaluation</a:t>
          </a:r>
        </a:p>
      </dgm:t>
    </dgm:pt>
    <dgm:pt modelId="{79859445-35F6-4829-8F71-939BAD229546}" type="parTrans" cxnId="{CE7776AE-A96D-4FC9-AD54-261C0C15C08B}">
      <dgm:prSet/>
      <dgm:spPr/>
      <dgm:t>
        <a:bodyPr/>
        <a:lstStyle/>
        <a:p>
          <a:endParaRPr lang="en-GB"/>
        </a:p>
      </dgm:t>
    </dgm:pt>
    <dgm:pt modelId="{CC1513A7-DA3E-485E-95BB-102CB2D1DE5E}" type="sibTrans" cxnId="{CE7776AE-A96D-4FC9-AD54-261C0C15C08B}">
      <dgm:prSet custT="1"/>
      <dgm:spPr/>
      <dgm:t>
        <a:bodyPr/>
        <a:lstStyle/>
        <a:p>
          <a:endParaRPr lang="en-GB" sz="1100"/>
        </a:p>
      </dgm:t>
    </dgm:pt>
    <dgm:pt modelId="{DB415EDF-A92C-44E8-90C0-579033483567}">
      <dgm:prSet custT="1"/>
      <dgm:spPr/>
      <dgm:t>
        <a:bodyPr/>
        <a:lstStyle/>
        <a:p>
          <a:r>
            <a:rPr lang="en-GB" sz="1800" dirty="0"/>
            <a:t>Scalability Analysis</a:t>
          </a:r>
        </a:p>
      </dgm:t>
    </dgm:pt>
    <dgm:pt modelId="{BA8DA87E-7B59-49D1-A98E-BDB9F8088181}" type="parTrans" cxnId="{E6443B53-F37F-4345-9320-D2E27AA50A8C}">
      <dgm:prSet/>
      <dgm:spPr/>
      <dgm:t>
        <a:bodyPr/>
        <a:lstStyle/>
        <a:p>
          <a:endParaRPr lang="en-GB"/>
        </a:p>
      </dgm:t>
    </dgm:pt>
    <dgm:pt modelId="{882DA762-45C0-4DD2-AA47-EAC7FB681D6C}" type="sibTrans" cxnId="{E6443B53-F37F-4345-9320-D2E27AA50A8C}">
      <dgm:prSet custT="1"/>
      <dgm:spPr/>
      <dgm:t>
        <a:bodyPr/>
        <a:lstStyle/>
        <a:p>
          <a:endParaRPr lang="en-GB" sz="1100"/>
        </a:p>
      </dgm:t>
    </dgm:pt>
    <dgm:pt modelId="{C46D29B8-0DD5-4366-8DB6-8B96A4F7511A}">
      <dgm:prSet custT="1"/>
      <dgm:spPr/>
      <dgm:t>
        <a:bodyPr/>
        <a:lstStyle/>
        <a:p>
          <a:r>
            <a:rPr lang="en-GB" sz="1800" dirty="0"/>
            <a:t>Final Comparison</a:t>
          </a:r>
        </a:p>
      </dgm:t>
    </dgm:pt>
    <dgm:pt modelId="{43651D7B-6726-4978-869F-48D1DF6F4784}" type="parTrans" cxnId="{4D5ABA5B-00D7-4F93-BA06-C3ADC21724C0}">
      <dgm:prSet/>
      <dgm:spPr/>
      <dgm:t>
        <a:bodyPr/>
        <a:lstStyle/>
        <a:p>
          <a:endParaRPr lang="en-GB"/>
        </a:p>
      </dgm:t>
    </dgm:pt>
    <dgm:pt modelId="{BC85D06A-9AFE-4A71-8D5A-0D4709D3DA5D}" type="sibTrans" cxnId="{4D5ABA5B-00D7-4F93-BA06-C3ADC21724C0}">
      <dgm:prSet/>
      <dgm:spPr/>
      <dgm:t>
        <a:bodyPr/>
        <a:lstStyle/>
        <a:p>
          <a:endParaRPr lang="en-GB"/>
        </a:p>
      </dgm:t>
    </dgm:pt>
    <dgm:pt modelId="{82A3A87A-4ABE-48D6-8CFC-7AAA777F77A2}" type="pres">
      <dgm:prSet presAssocID="{2162FEE5-A65F-492E-8273-DE2A7A16507F}" presName="linearFlow" presStyleCnt="0">
        <dgm:presLayoutVars>
          <dgm:resizeHandles val="exact"/>
        </dgm:presLayoutVars>
      </dgm:prSet>
      <dgm:spPr/>
    </dgm:pt>
    <dgm:pt modelId="{AFEEF30B-A9F0-4C07-8116-99BA6C31A9D4}" type="pres">
      <dgm:prSet presAssocID="{DD1BD820-D8B7-4628-9389-8E098E6A1C98}" presName="node" presStyleLbl="node1" presStyleIdx="0" presStyleCnt="10">
        <dgm:presLayoutVars>
          <dgm:bulletEnabled val="1"/>
        </dgm:presLayoutVars>
      </dgm:prSet>
      <dgm:spPr/>
    </dgm:pt>
    <dgm:pt modelId="{B490F878-1BDE-4393-956D-D02E37827193}" type="pres">
      <dgm:prSet presAssocID="{FF4D8D18-2797-4058-9DE1-BA707E827D14}" presName="sibTrans" presStyleLbl="sibTrans2D1" presStyleIdx="0" presStyleCnt="9"/>
      <dgm:spPr/>
    </dgm:pt>
    <dgm:pt modelId="{7FB5E49E-FE7A-46E5-BB82-5CB3F653167B}" type="pres">
      <dgm:prSet presAssocID="{FF4D8D18-2797-4058-9DE1-BA707E827D14}" presName="connectorText" presStyleLbl="sibTrans2D1" presStyleIdx="0" presStyleCnt="9"/>
      <dgm:spPr/>
    </dgm:pt>
    <dgm:pt modelId="{295ADF8F-E986-4985-8C1F-157DA5AE3EC1}" type="pres">
      <dgm:prSet presAssocID="{B62B4397-9DC5-484B-8036-D82B6987BE77}" presName="node" presStyleLbl="node1" presStyleIdx="1" presStyleCnt="10">
        <dgm:presLayoutVars>
          <dgm:bulletEnabled val="1"/>
        </dgm:presLayoutVars>
      </dgm:prSet>
      <dgm:spPr/>
    </dgm:pt>
    <dgm:pt modelId="{1DF302B8-CE55-47E1-9017-F30AFBB8E10B}" type="pres">
      <dgm:prSet presAssocID="{1C472785-7A41-4C5D-944E-F83234F59834}" presName="sibTrans" presStyleLbl="sibTrans2D1" presStyleIdx="1" presStyleCnt="9"/>
      <dgm:spPr/>
    </dgm:pt>
    <dgm:pt modelId="{2CCEA45E-DE67-451A-8563-D9898C31811F}" type="pres">
      <dgm:prSet presAssocID="{1C472785-7A41-4C5D-944E-F83234F59834}" presName="connectorText" presStyleLbl="sibTrans2D1" presStyleIdx="1" presStyleCnt="9"/>
      <dgm:spPr/>
    </dgm:pt>
    <dgm:pt modelId="{75184C99-DBB4-4BCE-8DB2-0E6826117C33}" type="pres">
      <dgm:prSet presAssocID="{0F2F2991-50AA-4DD0-8FEF-8D680F956F4A}" presName="node" presStyleLbl="node1" presStyleIdx="2" presStyleCnt="10">
        <dgm:presLayoutVars>
          <dgm:bulletEnabled val="1"/>
        </dgm:presLayoutVars>
      </dgm:prSet>
      <dgm:spPr/>
    </dgm:pt>
    <dgm:pt modelId="{30FCEBE0-F97C-4EB1-948B-A82CD7C57832}" type="pres">
      <dgm:prSet presAssocID="{3CBA43F8-4EF7-4C2C-A9CB-74281CC39BCD}" presName="sibTrans" presStyleLbl="sibTrans2D1" presStyleIdx="2" presStyleCnt="9"/>
      <dgm:spPr/>
    </dgm:pt>
    <dgm:pt modelId="{2CF256FA-166A-4E41-B196-8DC2018AB092}" type="pres">
      <dgm:prSet presAssocID="{3CBA43F8-4EF7-4C2C-A9CB-74281CC39BCD}" presName="connectorText" presStyleLbl="sibTrans2D1" presStyleIdx="2" presStyleCnt="9"/>
      <dgm:spPr/>
    </dgm:pt>
    <dgm:pt modelId="{F647C617-9BD4-474A-82DD-ED8D25D21AF0}" type="pres">
      <dgm:prSet presAssocID="{A7598204-7E67-4681-AD77-C25C0998538C}" presName="node" presStyleLbl="node1" presStyleIdx="3" presStyleCnt="10">
        <dgm:presLayoutVars>
          <dgm:bulletEnabled val="1"/>
        </dgm:presLayoutVars>
      </dgm:prSet>
      <dgm:spPr/>
    </dgm:pt>
    <dgm:pt modelId="{0DBB7454-C5A8-49E6-B91A-54121835D87A}" type="pres">
      <dgm:prSet presAssocID="{7F21DA0F-57A6-4B89-B1F2-36C6CA7BE477}" presName="sibTrans" presStyleLbl="sibTrans2D1" presStyleIdx="3" presStyleCnt="9"/>
      <dgm:spPr/>
    </dgm:pt>
    <dgm:pt modelId="{DD2CCF4D-A01E-4391-8CC5-A999C103959A}" type="pres">
      <dgm:prSet presAssocID="{7F21DA0F-57A6-4B89-B1F2-36C6CA7BE477}" presName="connectorText" presStyleLbl="sibTrans2D1" presStyleIdx="3" presStyleCnt="9"/>
      <dgm:spPr/>
    </dgm:pt>
    <dgm:pt modelId="{079481CC-6F18-4923-A8B9-D1F6CF2A9796}" type="pres">
      <dgm:prSet presAssocID="{86B6ACF3-FBA6-4E8F-B8AC-191CAD6D7037}" presName="node" presStyleLbl="node1" presStyleIdx="4" presStyleCnt="10">
        <dgm:presLayoutVars>
          <dgm:bulletEnabled val="1"/>
        </dgm:presLayoutVars>
      </dgm:prSet>
      <dgm:spPr/>
    </dgm:pt>
    <dgm:pt modelId="{8B6F5D1D-3BB1-46B4-9684-3CED8AB21B4F}" type="pres">
      <dgm:prSet presAssocID="{C88A9802-E833-4264-AAB9-9D10CD8CE43E}" presName="sibTrans" presStyleLbl="sibTrans2D1" presStyleIdx="4" presStyleCnt="9"/>
      <dgm:spPr/>
    </dgm:pt>
    <dgm:pt modelId="{9F157414-DF5F-4762-9CD6-757D43EC6B0C}" type="pres">
      <dgm:prSet presAssocID="{C88A9802-E833-4264-AAB9-9D10CD8CE43E}" presName="connectorText" presStyleLbl="sibTrans2D1" presStyleIdx="4" presStyleCnt="9"/>
      <dgm:spPr/>
    </dgm:pt>
    <dgm:pt modelId="{D9121FEA-FCAE-4AB7-B2C5-48EA9A31F1C4}" type="pres">
      <dgm:prSet presAssocID="{C31DDEE7-5828-4EA8-BC75-E83800DD4064}" presName="node" presStyleLbl="node1" presStyleIdx="5" presStyleCnt="10">
        <dgm:presLayoutVars>
          <dgm:bulletEnabled val="1"/>
        </dgm:presLayoutVars>
      </dgm:prSet>
      <dgm:spPr/>
    </dgm:pt>
    <dgm:pt modelId="{F6ECFD96-D90C-4675-A8B0-9B8660F08F07}" type="pres">
      <dgm:prSet presAssocID="{532FAAD7-FA04-49BD-A148-04ECF9FE7AEE}" presName="sibTrans" presStyleLbl="sibTrans2D1" presStyleIdx="5" presStyleCnt="9"/>
      <dgm:spPr/>
    </dgm:pt>
    <dgm:pt modelId="{2F522876-80D9-48BE-9836-CC7A1A89B0A2}" type="pres">
      <dgm:prSet presAssocID="{532FAAD7-FA04-49BD-A148-04ECF9FE7AEE}" presName="connectorText" presStyleLbl="sibTrans2D1" presStyleIdx="5" presStyleCnt="9"/>
      <dgm:spPr/>
    </dgm:pt>
    <dgm:pt modelId="{A5BFF6D0-895E-4C18-84D6-9C1F2B94C814}" type="pres">
      <dgm:prSet presAssocID="{BCE20952-F1DB-4A12-8EA6-52E523D0AD35}" presName="node" presStyleLbl="node1" presStyleIdx="6" presStyleCnt="10">
        <dgm:presLayoutVars>
          <dgm:bulletEnabled val="1"/>
        </dgm:presLayoutVars>
      </dgm:prSet>
      <dgm:spPr/>
    </dgm:pt>
    <dgm:pt modelId="{3FDE34E9-B740-4575-8B78-4264B4819B41}" type="pres">
      <dgm:prSet presAssocID="{386484A0-37C2-4B38-8B0E-CF683FB1F2DD}" presName="sibTrans" presStyleLbl="sibTrans2D1" presStyleIdx="6" presStyleCnt="9"/>
      <dgm:spPr/>
    </dgm:pt>
    <dgm:pt modelId="{2FC5DF5D-14B0-42D7-A414-B4E82521D59D}" type="pres">
      <dgm:prSet presAssocID="{386484A0-37C2-4B38-8B0E-CF683FB1F2DD}" presName="connectorText" presStyleLbl="sibTrans2D1" presStyleIdx="6" presStyleCnt="9"/>
      <dgm:spPr/>
    </dgm:pt>
    <dgm:pt modelId="{E9BC3A40-83E4-4075-9046-00F96D62CC40}" type="pres">
      <dgm:prSet presAssocID="{F720D593-E543-4031-832D-3CD7F5DFB650}" presName="node" presStyleLbl="node1" presStyleIdx="7" presStyleCnt="10">
        <dgm:presLayoutVars>
          <dgm:bulletEnabled val="1"/>
        </dgm:presLayoutVars>
      </dgm:prSet>
      <dgm:spPr/>
    </dgm:pt>
    <dgm:pt modelId="{765A52FD-3D6F-4C9A-AE76-44ED7D1E40D5}" type="pres">
      <dgm:prSet presAssocID="{CC1513A7-DA3E-485E-95BB-102CB2D1DE5E}" presName="sibTrans" presStyleLbl="sibTrans2D1" presStyleIdx="7" presStyleCnt="9"/>
      <dgm:spPr/>
    </dgm:pt>
    <dgm:pt modelId="{0730A1BF-375D-4723-8A5B-4721C2259CBC}" type="pres">
      <dgm:prSet presAssocID="{CC1513A7-DA3E-485E-95BB-102CB2D1DE5E}" presName="connectorText" presStyleLbl="sibTrans2D1" presStyleIdx="7" presStyleCnt="9"/>
      <dgm:spPr/>
    </dgm:pt>
    <dgm:pt modelId="{A0BC9FC2-10F9-48D4-A69C-79FC374A10A1}" type="pres">
      <dgm:prSet presAssocID="{DB415EDF-A92C-44E8-90C0-579033483567}" presName="node" presStyleLbl="node1" presStyleIdx="8" presStyleCnt="10">
        <dgm:presLayoutVars>
          <dgm:bulletEnabled val="1"/>
        </dgm:presLayoutVars>
      </dgm:prSet>
      <dgm:spPr/>
    </dgm:pt>
    <dgm:pt modelId="{7C86E25D-EA4C-4D17-8C84-22DB1B96D8CA}" type="pres">
      <dgm:prSet presAssocID="{882DA762-45C0-4DD2-AA47-EAC7FB681D6C}" presName="sibTrans" presStyleLbl="sibTrans2D1" presStyleIdx="8" presStyleCnt="9"/>
      <dgm:spPr/>
    </dgm:pt>
    <dgm:pt modelId="{2B6BD34C-0C30-4F71-8FCB-842A773A3098}" type="pres">
      <dgm:prSet presAssocID="{882DA762-45C0-4DD2-AA47-EAC7FB681D6C}" presName="connectorText" presStyleLbl="sibTrans2D1" presStyleIdx="8" presStyleCnt="9"/>
      <dgm:spPr/>
    </dgm:pt>
    <dgm:pt modelId="{0223D855-0E61-423D-838B-60EE69EB2CBA}" type="pres">
      <dgm:prSet presAssocID="{C46D29B8-0DD5-4366-8DB6-8B96A4F7511A}" presName="node" presStyleLbl="node1" presStyleIdx="9" presStyleCnt="10">
        <dgm:presLayoutVars>
          <dgm:bulletEnabled val="1"/>
        </dgm:presLayoutVars>
      </dgm:prSet>
      <dgm:spPr/>
    </dgm:pt>
  </dgm:ptLst>
  <dgm:cxnLst>
    <dgm:cxn modelId="{F6369304-2382-40D3-8496-48EA7BE06196}" type="presOf" srcId="{532FAAD7-FA04-49BD-A148-04ECF9FE7AEE}" destId="{2F522876-80D9-48BE-9836-CC7A1A89B0A2}" srcOrd="1" destOrd="0" presId="urn:microsoft.com/office/officeart/2005/8/layout/process2"/>
    <dgm:cxn modelId="{5E806D08-E283-452E-9F24-9A0EF184B1A4}" type="presOf" srcId="{3CBA43F8-4EF7-4C2C-A9CB-74281CC39BCD}" destId="{2CF256FA-166A-4E41-B196-8DC2018AB092}" srcOrd="1" destOrd="0" presId="urn:microsoft.com/office/officeart/2005/8/layout/process2"/>
    <dgm:cxn modelId="{A666A91E-4089-472B-8F83-BDA82ED0B82F}" type="presOf" srcId="{7F21DA0F-57A6-4B89-B1F2-36C6CA7BE477}" destId="{0DBB7454-C5A8-49E6-B91A-54121835D87A}" srcOrd="0" destOrd="0" presId="urn:microsoft.com/office/officeart/2005/8/layout/process2"/>
    <dgm:cxn modelId="{91A46926-363C-4393-B751-B13A9D6EC1D7}" type="presOf" srcId="{386484A0-37C2-4B38-8B0E-CF683FB1F2DD}" destId="{2FC5DF5D-14B0-42D7-A414-B4E82521D59D}" srcOrd="1" destOrd="0" presId="urn:microsoft.com/office/officeart/2005/8/layout/process2"/>
    <dgm:cxn modelId="{9BF7902E-6D7F-4F28-BD5A-7776DE4DD012}" type="presOf" srcId="{532FAAD7-FA04-49BD-A148-04ECF9FE7AEE}" destId="{F6ECFD96-D90C-4675-A8B0-9B8660F08F07}" srcOrd="0" destOrd="0" presId="urn:microsoft.com/office/officeart/2005/8/layout/process2"/>
    <dgm:cxn modelId="{7A997F30-1244-46D0-A9E3-38F0F332F393}" type="presOf" srcId="{A7598204-7E67-4681-AD77-C25C0998538C}" destId="{F647C617-9BD4-474A-82DD-ED8D25D21AF0}" srcOrd="0" destOrd="0" presId="urn:microsoft.com/office/officeart/2005/8/layout/process2"/>
    <dgm:cxn modelId="{6BDA6835-D715-4AA5-9B69-537FA8DAF64C}" type="presOf" srcId="{86B6ACF3-FBA6-4E8F-B8AC-191CAD6D7037}" destId="{079481CC-6F18-4923-A8B9-D1F6CF2A9796}" srcOrd="0" destOrd="0" presId="urn:microsoft.com/office/officeart/2005/8/layout/process2"/>
    <dgm:cxn modelId="{46F8B736-6EEE-4920-AE84-5928ED21A684}" type="presOf" srcId="{2162FEE5-A65F-492E-8273-DE2A7A16507F}" destId="{82A3A87A-4ABE-48D6-8CFC-7AAA777F77A2}" srcOrd="0" destOrd="0" presId="urn:microsoft.com/office/officeart/2005/8/layout/process2"/>
    <dgm:cxn modelId="{4D5ABA5B-00D7-4F93-BA06-C3ADC21724C0}" srcId="{2162FEE5-A65F-492E-8273-DE2A7A16507F}" destId="{C46D29B8-0DD5-4366-8DB6-8B96A4F7511A}" srcOrd="9" destOrd="0" parTransId="{43651D7B-6726-4978-869F-48D1DF6F4784}" sibTransId="{BC85D06A-9AFE-4A71-8D5A-0D4709D3DA5D}"/>
    <dgm:cxn modelId="{E2A9E25C-B845-4545-B824-43A18DB903EF}" type="presOf" srcId="{3CBA43F8-4EF7-4C2C-A9CB-74281CC39BCD}" destId="{30FCEBE0-F97C-4EB1-948B-A82CD7C57832}" srcOrd="0" destOrd="0" presId="urn:microsoft.com/office/officeart/2005/8/layout/process2"/>
    <dgm:cxn modelId="{E4400360-257E-40C2-A920-B912E20EC034}" type="presOf" srcId="{C46D29B8-0DD5-4366-8DB6-8B96A4F7511A}" destId="{0223D855-0E61-423D-838B-60EE69EB2CBA}" srcOrd="0" destOrd="0" presId="urn:microsoft.com/office/officeart/2005/8/layout/process2"/>
    <dgm:cxn modelId="{47C23343-CB21-4C19-8FF2-A0C2B807389F}" srcId="{2162FEE5-A65F-492E-8273-DE2A7A16507F}" destId="{A7598204-7E67-4681-AD77-C25C0998538C}" srcOrd="3" destOrd="0" parTransId="{74FF2E1C-6882-4FFB-8073-3D5060B3DDBA}" sibTransId="{7F21DA0F-57A6-4B89-B1F2-36C6CA7BE477}"/>
    <dgm:cxn modelId="{59551966-DEA6-4B3E-A339-381B47D01E39}" type="presOf" srcId="{7F21DA0F-57A6-4B89-B1F2-36C6CA7BE477}" destId="{DD2CCF4D-A01E-4391-8CC5-A999C103959A}" srcOrd="1" destOrd="0" presId="urn:microsoft.com/office/officeart/2005/8/layout/process2"/>
    <dgm:cxn modelId="{7FD3026A-FF5B-4035-AF09-317DBBFBA140}" type="presOf" srcId="{BCE20952-F1DB-4A12-8EA6-52E523D0AD35}" destId="{A5BFF6D0-895E-4C18-84D6-9C1F2B94C814}" srcOrd="0" destOrd="0" presId="urn:microsoft.com/office/officeart/2005/8/layout/process2"/>
    <dgm:cxn modelId="{D34EE24C-D8E6-432A-BE46-C6C58D3D764E}" type="presOf" srcId="{DB415EDF-A92C-44E8-90C0-579033483567}" destId="{A0BC9FC2-10F9-48D4-A69C-79FC374A10A1}" srcOrd="0" destOrd="0" presId="urn:microsoft.com/office/officeart/2005/8/layout/process2"/>
    <dgm:cxn modelId="{E6443B53-F37F-4345-9320-D2E27AA50A8C}" srcId="{2162FEE5-A65F-492E-8273-DE2A7A16507F}" destId="{DB415EDF-A92C-44E8-90C0-579033483567}" srcOrd="8" destOrd="0" parTransId="{BA8DA87E-7B59-49D1-A98E-BDB9F8088181}" sibTransId="{882DA762-45C0-4DD2-AA47-EAC7FB681D6C}"/>
    <dgm:cxn modelId="{B4D19E7E-115B-40A1-91ED-F0CAACA9B475}" type="presOf" srcId="{C88A9802-E833-4264-AAB9-9D10CD8CE43E}" destId="{9F157414-DF5F-4762-9CD6-757D43EC6B0C}" srcOrd="1" destOrd="0" presId="urn:microsoft.com/office/officeart/2005/8/layout/process2"/>
    <dgm:cxn modelId="{8D7B5284-C7E8-4524-920E-655D71B1B980}" type="presOf" srcId="{CC1513A7-DA3E-485E-95BB-102CB2D1DE5E}" destId="{765A52FD-3D6F-4C9A-AE76-44ED7D1E40D5}" srcOrd="0" destOrd="0" presId="urn:microsoft.com/office/officeart/2005/8/layout/process2"/>
    <dgm:cxn modelId="{0755AF84-C6B7-4CD3-BC19-5CDE91E76161}" type="presOf" srcId="{C88A9802-E833-4264-AAB9-9D10CD8CE43E}" destId="{8B6F5D1D-3BB1-46B4-9684-3CED8AB21B4F}" srcOrd="0" destOrd="0" presId="urn:microsoft.com/office/officeart/2005/8/layout/process2"/>
    <dgm:cxn modelId="{A1CB8594-75A2-4083-9CD4-BB951ABA3CFA}" type="presOf" srcId="{FF4D8D18-2797-4058-9DE1-BA707E827D14}" destId="{7FB5E49E-FE7A-46E5-BB82-5CB3F653167B}" srcOrd="1" destOrd="0" presId="urn:microsoft.com/office/officeart/2005/8/layout/process2"/>
    <dgm:cxn modelId="{B96458A2-2C15-4436-8CD0-BF0A72B90032}" type="presOf" srcId="{0F2F2991-50AA-4DD0-8FEF-8D680F956F4A}" destId="{75184C99-DBB4-4BCE-8DB2-0E6826117C33}" srcOrd="0" destOrd="0" presId="urn:microsoft.com/office/officeart/2005/8/layout/process2"/>
    <dgm:cxn modelId="{87607DA3-3A5A-4C97-A94F-944CDEBC37A3}" srcId="{2162FEE5-A65F-492E-8273-DE2A7A16507F}" destId="{0F2F2991-50AA-4DD0-8FEF-8D680F956F4A}" srcOrd="2" destOrd="0" parTransId="{0A35A708-10C2-47E0-B510-FCDD663D006E}" sibTransId="{3CBA43F8-4EF7-4C2C-A9CB-74281CC39BCD}"/>
    <dgm:cxn modelId="{23B0B6A3-7ECA-4339-AA93-D00582E3B07B}" type="presOf" srcId="{882DA762-45C0-4DD2-AA47-EAC7FB681D6C}" destId="{2B6BD34C-0C30-4F71-8FCB-842A773A3098}" srcOrd="1" destOrd="0" presId="urn:microsoft.com/office/officeart/2005/8/layout/process2"/>
    <dgm:cxn modelId="{774FCDAB-861D-4922-B661-32DB62DCD227}" type="presOf" srcId="{1C472785-7A41-4C5D-944E-F83234F59834}" destId="{2CCEA45E-DE67-451A-8563-D9898C31811F}" srcOrd="1" destOrd="0" presId="urn:microsoft.com/office/officeart/2005/8/layout/process2"/>
    <dgm:cxn modelId="{CE7776AE-A96D-4FC9-AD54-261C0C15C08B}" srcId="{2162FEE5-A65F-492E-8273-DE2A7A16507F}" destId="{F720D593-E543-4031-832D-3CD7F5DFB650}" srcOrd="7" destOrd="0" parTransId="{79859445-35F6-4829-8F71-939BAD229546}" sibTransId="{CC1513A7-DA3E-485E-95BB-102CB2D1DE5E}"/>
    <dgm:cxn modelId="{C802E4B5-DFB0-40EC-8BA0-F545EAACE774}" srcId="{2162FEE5-A65F-492E-8273-DE2A7A16507F}" destId="{86B6ACF3-FBA6-4E8F-B8AC-191CAD6D7037}" srcOrd="4" destOrd="0" parTransId="{B9C676D5-70AC-42C3-AB80-F06C08FFB38C}" sibTransId="{C88A9802-E833-4264-AAB9-9D10CD8CE43E}"/>
    <dgm:cxn modelId="{2D1D60BC-FF76-44CC-B1F8-50A1ECA3222B}" type="presOf" srcId="{C31DDEE7-5828-4EA8-BC75-E83800DD4064}" destId="{D9121FEA-FCAE-4AB7-B2C5-48EA9A31F1C4}" srcOrd="0" destOrd="0" presId="urn:microsoft.com/office/officeart/2005/8/layout/process2"/>
    <dgm:cxn modelId="{3FA390BC-071A-463B-95EE-88FFF55558B5}" type="presOf" srcId="{386484A0-37C2-4B38-8B0E-CF683FB1F2DD}" destId="{3FDE34E9-B740-4575-8B78-4264B4819B41}" srcOrd="0" destOrd="0" presId="urn:microsoft.com/office/officeart/2005/8/layout/process2"/>
    <dgm:cxn modelId="{6CD4B0C4-B272-41CC-8519-EDC3E0C34F6D}" type="presOf" srcId="{882DA762-45C0-4DD2-AA47-EAC7FB681D6C}" destId="{7C86E25D-EA4C-4D17-8C84-22DB1B96D8CA}" srcOrd="0" destOrd="0" presId="urn:microsoft.com/office/officeart/2005/8/layout/process2"/>
    <dgm:cxn modelId="{13A079C8-B20C-4694-AFFB-DFA9E7935372}" type="presOf" srcId="{B62B4397-9DC5-484B-8036-D82B6987BE77}" destId="{295ADF8F-E986-4985-8C1F-157DA5AE3EC1}" srcOrd="0" destOrd="0" presId="urn:microsoft.com/office/officeart/2005/8/layout/process2"/>
    <dgm:cxn modelId="{B89182CE-996F-4DA5-B07F-81AE8997D14B}" type="presOf" srcId="{DD1BD820-D8B7-4628-9389-8E098E6A1C98}" destId="{AFEEF30B-A9F0-4C07-8116-99BA6C31A9D4}" srcOrd="0" destOrd="0" presId="urn:microsoft.com/office/officeart/2005/8/layout/process2"/>
    <dgm:cxn modelId="{961B2FD1-A00C-4320-9391-BD0D964E2EAA}" type="presOf" srcId="{CC1513A7-DA3E-485E-95BB-102CB2D1DE5E}" destId="{0730A1BF-375D-4723-8A5B-4721C2259CBC}" srcOrd="1" destOrd="0" presId="urn:microsoft.com/office/officeart/2005/8/layout/process2"/>
    <dgm:cxn modelId="{50A339D3-6CC2-4682-9423-3DBB489E85C7}" type="presOf" srcId="{1C472785-7A41-4C5D-944E-F83234F59834}" destId="{1DF302B8-CE55-47E1-9017-F30AFBB8E10B}" srcOrd="0" destOrd="0" presId="urn:microsoft.com/office/officeart/2005/8/layout/process2"/>
    <dgm:cxn modelId="{B823C6D4-191A-476C-8D70-A46E86F8A6A8}" type="presOf" srcId="{F720D593-E543-4031-832D-3CD7F5DFB650}" destId="{E9BC3A40-83E4-4075-9046-00F96D62CC40}" srcOrd="0" destOrd="0" presId="urn:microsoft.com/office/officeart/2005/8/layout/process2"/>
    <dgm:cxn modelId="{A4994BD8-7323-4051-8B24-236239F93EA1}" srcId="{2162FEE5-A65F-492E-8273-DE2A7A16507F}" destId="{B62B4397-9DC5-484B-8036-D82B6987BE77}" srcOrd="1" destOrd="0" parTransId="{5074657B-F407-458D-9A8E-0D982C5CCEF8}" sibTransId="{1C472785-7A41-4C5D-944E-F83234F59834}"/>
    <dgm:cxn modelId="{4BE418DD-3186-4783-AA4F-FE368A159F0A}" srcId="{2162FEE5-A65F-492E-8273-DE2A7A16507F}" destId="{DD1BD820-D8B7-4628-9389-8E098E6A1C98}" srcOrd="0" destOrd="0" parTransId="{EC55C04A-A013-42ED-8D92-7074480E5D72}" sibTransId="{FF4D8D18-2797-4058-9DE1-BA707E827D14}"/>
    <dgm:cxn modelId="{993062F6-5EC5-495F-92DE-4C855B07F27E}" type="presOf" srcId="{FF4D8D18-2797-4058-9DE1-BA707E827D14}" destId="{B490F878-1BDE-4393-956D-D02E37827193}" srcOrd="0" destOrd="0" presId="urn:microsoft.com/office/officeart/2005/8/layout/process2"/>
    <dgm:cxn modelId="{2EF6A0FB-1DF6-4E39-A904-DA6D5D7BED09}" srcId="{2162FEE5-A65F-492E-8273-DE2A7A16507F}" destId="{BCE20952-F1DB-4A12-8EA6-52E523D0AD35}" srcOrd="6" destOrd="0" parTransId="{9768B159-C6AB-4073-9917-DD4B641FACB2}" sibTransId="{386484A0-37C2-4B38-8B0E-CF683FB1F2DD}"/>
    <dgm:cxn modelId="{6C3680FC-312D-4CC9-A307-A859C5FF0EF8}" srcId="{2162FEE5-A65F-492E-8273-DE2A7A16507F}" destId="{C31DDEE7-5828-4EA8-BC75-E83800DD4064}" srcOrd="5" destOrd="0" parTransId="{017F22E3-FA80-4566-B752-5160FA25E499}" sibTransId="{532FAAD7-FA04-49BD-A148-04ECF9FE7AEE}"/>
    <dgm:cxn modelId="{F1C36818-D5C0-4456-9200-188F1320993C}" type="presParOf" srcId="{82A3A87A-4ABE-48D6-8CFC-7AAA777F77A2}" destId="{AFEEF30B-A9F0-4C07-8116-99BA6C31A9D4}" srcOrd="0" destOrd="0" presId="urn:microsoft.com/office/officeart/2005/8/layout/process2"/>
    <dgm:cxn modelId="{FA3D1D7B-A2B7-4381-918E-F1B5D3B5EA25}" type="presParOf" srcId="{82A3A87A-4ABE-48D6-8CFC-7AAA777F77A2}" destId="{B490F878-1BDE-4393-956D-D02E37827193}" srcOrd="1" destOrd="0" presId="urn:microsoft.com/office/officeart/2005/8/layout/process2"/>
    <dgm:cxn modelId="{F0EB8197-7D97-448F-A150-54958C44EA1C}" type="presParOf" srcId="{B490F878-1BDE-4393-956D-D02E37827193}" destId="{7FB5E49E-FE7A-46E5-BB82-5CB3F653167B}" srcOrd="0" destOrd="0" presId="urn:microsoft.com/office/officeart/2005/8/layout/process2"/>
    <dgm:cxn modelId="{83F37CBD-CED6-480E-9405-713EC574DC33}" type="presParOf" srcId="{82A3A87A-4ABE-48D6-8CFC-7AAA777F77A2}" destId="{295ADF8F-E986-4985-8C1F-157DA5AE3EC1}" srcOrd="2" destOrd="0" presId="urn:microsoft.com/office/officeart/2005/8/layout/process2"/>
    <dgm:cxn modelId="{A325CBCB-1F92-4C93-9979-84CD296286B5}" type="presParOf" srcId="{82A3A87A-4ABE-48D6-8CFC-7AAA777F77A2}" destId="{1DF302B8-CE55-47E1-9017-F30AFBB8E10B}" srcOrd="3" destOrd="0" presId="urn:microsoft.com/office/officeart/2005/8/layout/process2"/>
    <dgm:cxn modelId="{DAE5BBC5-95F3-4E12-9310-3989103A9F29}" type="presParOf" srcId="{1DF302B8-CE55-47E1-9017-F30AFBB8E10B}" destId="{2CCEA45E-DE67-451A-8563-D9898C31811F}" srcOrd="0" destOrd="0" presId="urn:microsoft.com/office/officeart/2005/8/layout/process2"/>
    <dgm:cxn modelId="{0F0A5501-D8A9-48A9-A50D-60240A1913CF}" type="presParOf" srcId="{82A3A87A-4ABE-48D6-8CFC-7AAA777F77A2}" destId="{75184C99-DBB4-4BCE-8DB2-0E6826117C33}" srcOrd="4" destOrd="0" presId="urn:microsoft.com/office/officeart/2005/8/layout/process2"/>
    <dgm:cxn modelId="{FFAD150A-B581-47F2-AFA5-934BEFDD66CB}" type="presParOf" srcId="{82A3A87A-4ABE-48D6-8CFC-7AAA777F77A2}" destId="{30FCEBE0-F97C-4EB1-948B-A82CD7C57832}" srcOrd="5" destOrd="0" presId="urn:microsoft.com/office/officeart/2005/8/layout/process2"/>
    <dgm:cxn modelId="{19C3FD1A-0361-4EFA-A216-A9626C6DD3E2}" type="presParOf" srcId="{30FCEBE0-F97C-4EB1-948B-A82CD7C57832}" destId="{2CF256FA-166A-4E41-B196-8DC2018AB092}" srcOrd="0" destOrd="0" presId="urn:microsoft.com/office/officeart/2005/8/layout/process2"/>
    <dgm:cxn modelId="{62B8E548-0FC7-44E6-A140-FC5BC49729F2}" type="presParOf" srcId="{82A3A87A-4ABE-48D6-8CFC-7AAA777F77A2}" destId="{F647C617-9BD4-474A-82DD-ED8D25D21AF0}" srcOrd="6" destOrd="0" presId="urn:microsoft.com/office/officeart/2005/8/layout/process2"/>
    <dgm:cxn modelId="{D15DBCE2-32ED-4C7E-96E9-CC789398B790}" type="presParOf" srcId="{82A3A87A-4ABE-48D6-8CFC-7AAA777F77A2}" destId="{0DBB7454-C5A8-49E6-B91A-54121835D87A}" srcOrd="7" destOrd="0" presId="urn:microsoft.com/office/officeart/2005/8/layout/process2"/>
    <dgm:cxn modelId="{DC3BDD40-55E7-4C7F-9532-5DC02522F449}" type="presParOf" srcId="{0DBB7454-C5A8-49E6-B91A-54121835D87A}" destId="{DD2CCF4D-A01E-4391-8CC5-A999C103959A}" srcOrd="0" destOrd="0" presId="urn:microsoft.com/office/officeart/2005/8/layout/process2"/>
    <dgm:cxn modelId="{BCD71E7D-844E-4A05-B5F2-E7E4836AE91B}" type="presParOf" srcId="{82A3A87A-4ABE-48D6-8CFC-7AAA777F77A2}" destId="{079481CC-6F18-4923-A8B9-D1F6CF2A9796}" srcOrd="8" destOrd="0" presId="urn:microsoft.com/office/officeart/2005/8/layout/process2"/>
    <dgm:cxn modelId="{0F7062C0-0E84-47F1-AF92-2103D8BCB409}" type="presParOf" srcId="{82A3A87A-4ABE-48D6-8CFC-7AAA777F77A2}" destId="{8B6F5D1D-3BB1-46B4-9684-3CED8AB21B4F}" srcOrd="9" destOrd="0" presId="urn:microsoft.com/office/officeart/2005/8/layout/process2"/>
    <dgm:cxn modelId="{55ADB0D1-44D3-44BF-9C82-B5F14F1101F1}" type="presParOf" srcId="{8B6F5D1D-3BB1-46B4-9684-3CED8AB21B4F}" destId="{9F157414-DF5F-4762-9CD6-757D43EC6B0C}" srcOrd="0" destOrd="0" presId="urn:microsoft.com/office/officeart/2005/8/layout/process2"/>
    <dgm:cxn modelId="{4096686F-9588-4F93-937E-4D40E0B8CE9C}" type="presParOf" srcId="{82A3A87A-4ABE-48D6-8CFC-7AAA777F77A2}" destId="{D9121FEA-FCAE-4AB7-B2C5-48EA9A31F1C4}" srcOrd="10" destOrd="0" presId="urn:microsoft.com/office/officeart/2005/8/layout/process2"/>
    <dgm:cxn modelId="{D065EFC2-B503-4508-81A9-216890BAB4CC}" type="presParOf" srcId="{82A3A87A-4ABE-48D6-8CFC-7AAA777F77A2}" destId="{F6ECFD96-D90C-4675-A8B0-9B8660F08F07}" srcOrd="11" destOrd="0" presId="urn:microsoft.com/office/officeart/2005/8/layout/process2"/>
    <dgm:cxn modelId="{E0567AB4-FC35-4DD9-B578-EECF2042ADE9}" type="presParOf" srcId="{F6ECFD96-D90C-4675-A8B0-9B8660F08F07}" destId="{2F522876-80D9-48BE-9836-CC7A1A89B0A2}" srcOrd="0" destOrd="0" presId="urn:microsoft.com/office/officeart/2005/8/layout/process2"/>
    <dgm:cxn modelId="{E4B7EAEE-E65F-4379-99DE-383FECD8A87B}" type="presParOf" srcId="{82A3A87A-4ABE-48D6-8CFC-7AAA777F77A2}" destId="{A5BFF6D0-895E-4C18-84D6-9C1F2B94C814}" srcOrd="12" destOrd="0" presId="urn:microsoft.com/office/officeart/2005/8/layout/process2"/>
    <dgm:cxn modelId="{E1964D3A-7D7D-46CC-AFC1-F2C2097C76C1}" type="presParOf" srcId="{82A3A87A-4ABE-48D6-8CFC-7AAA777F77A2}" destId="{3FDE34E9-B740-4575-8B78-4264B4819B41}" srcOrd="13" destOrd="0" presId="urn:microsoft.com/office/officeart/2005/8/layout/process2"/>
    <dgm:cxn modelId="{4D59DA9D-5EE8-428D-B881-44400EAF6B4E}" type="presParOf" srcId="{3FDE34E9-B740-4575-8B78-4264B4819B41}" destId="{2FC5DF5D-14B0-42D7-A414-B4E82521D59D}" srcOrd="0" destOrd="0" presId="urn:microsoft.com/office/officeart/2005/8/layout/process2"/>
    <dgm:cxn modelId="{59852528-4384-47A0-8715-0D46E5D5006B}" type="presParOf" srcId="{82A3A87A-4ABE-48D6-8CFC-7AAA777F77A2}" destId="{E9BC3A40-83E4-4075-9046-00F96D62CC40}" srcOrd="14" destOrd="0" presId="urn:microsoft.com/office/officeart/2005/8/layout/process2"/>
    <dgm:cxn modelId="{03C65FBC-C250-4ACF-A5CA-3FCA225750CF}" type="presParOf" srcId="{82A3A87A-4ABE-48D6-8CFC-7AAA777F77A2}" destId="{765A52FD-3D6F-4C9A-AE76-44ED7D1E40D5}" srcOrd="15" destOrd="0" presId="urn:microsoft.com/office/officeart/2005/8/layout/process2"/>
    <dgm:cxn modelId="{1E980C61-9C82-486E-BD89-AC04D4EE18BD}" type="presParOf" srcId="{765A52FD-3D6F-4C9A-AE76-44ED7D1E40D5}" destId="{0730A1BF-375D-4723-8A5B-4721C2259CBC}" srcOrd="0" destOrd="0" presId="urn:microsoft.com/office/officeart/2005/8/layout/process2"/>
    <dgm:cxn modelId="{379AFD39-3D29-4E97-8CBC-8B52851394A4}" type="presParOf" srcId="{82A3A87A-4ABE-48D6-8CFC-7AAA777F77A2}" destId="{A0BC9FC2-10F9-48D4-A69C-79FC374A10A1}" srcOrd="16" destOrd="0" presId="urn:microsoft.com/office/officeart/2005/8/layout/process2"/>
    <dgm:cxn modelId="{1FD29C90-E0A2-4488-A1F7-6E67E1AF0E92}" type="presParOf" srcId="{82A3A87A-4ABE-48D6-8CFC-7AAA777F77A2}" destId="{7C86E25D-EA4C-4D17-8C84-22DB1B96D8CA}" srcOrd="17" destOrd="0" presId="urn:microsoft.com/office/officeart/2005/8/layout/process2"/>
    <dgm:cxn modelId="{C9958CE0-6D6C-4FA3-8AA6-5AD2CD0D6BD6}" type="presParOf" srcId="{7C86E25D-EA4C-4D17-8C84-22DB1B96D8CA}" destId="{2B6BD34C-0C30-4F71-8FCB-842A773A3098}" srcOrd="0" destOrd="0" presId="urn:microsoft.com/office/officeart/2005/8/layout/process2"/>
    <dgm:cxn modelId="{D52F0FEE-3AE6-45C1-A52E-F31749B27FC7}" type="presParOf" srcId="{82A3A87A-4ABE-48D6-8CFC-7AAA777F77A2}" destId="{0223D855-0E61-423D-838B-60EE69EB2CBA}" srcOrd="1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EEF30B-A9F0-4C07-8116-99BA6C31A9D4}">
      <dsp:nvSpPr>
        <dsp:cNvPr id="0" name=""/>
        <dsp:cNvSpPr/>
      </dsp:nvSpPr>
      <dsp:spPr>
        <a:xfrm>
          <a:off x="1758882" y="10345"/>
          <a:ext cx="2121034" cy="53025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Financial Transaction Dataset</a:t>
          </a:r>
        </a:p>
      </dsp:txBody>
      <dsp:txXfrm>
        <a:off x="1774413" y="25876"/>
        <a:ext cx="2089972" cy="499196"/>
      </dsp:txXfrm>
    </dsp:sp>
    <dsp:sp modelId="{B490F878-1BDE-4393-956D-D02E37827193}">
      <dsp:nvSpPr>
        <dsp:cNvPr id="0" name=""/>
        <dsp:cNvSpPr/>
      </dsp:nvSpPr>
      <dsp:spPr>
        <a:xfrm rot="5400000">
          <a:off x="2719976" y="553860"/>
          <a:ext cx="198847" cy="23861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573744"/>
        <a:ext cx="143170" cy="139193"/>
      </dsp:txXfrm>
    </dsp:sp>
    <dsp:sp modelId="{295ADF8F-E986-4985-8C1F-157DA5AE3EC1}">
      <dsp:nvSpPr>
        <dsp:cNvPr id="0" name=""/>
        <dsp:cNvSpPr/>
      </dsp:nvSpPr>
      <dsp:spPr>
        <a:xfrm>
          <a:off x="1758882" y="805733"/>
          <a:ext cx="2121034" cy="53025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Acquisition</a:t>
          </a:r>
        </a:p>
      </dsp:txBody>
      <dsp:txXfrm>
        <a:off x="1774413" y="821264"/>
        <a:ext cx="2089972" cy="499196"/>
      </dsp:txXfrm>
    </dsp:sp>
    <dsp:sp modelId="{1DF302B8-CE55-47E1-9017-F30AFBB8E10B}">
      <dsp:nvSpPr>
        <dsp:cNvPr id="0" name=""/>
        <dsp:cNvSpPr/>
      </dsp:nvSpPr>
      <dsp:spPr>
        <a:xfrm rot="5400000">
          <a:off x="2719976" y="1349248"/>
          <a:ext cx="198847" cy="23861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1369132"/>
        <a:ext cx="143170" cy="139193"/>
      </dsp:txXfrm>
    </dsp:sp>
    <dsp:sp modelId="{75184C99-DBB4-4BCE-8DB2-0E6826117C33}">
      <dsp:nvSpPr>
        <dsp:cNvPr id="0" name=""/>
        <dsp:cNvSpPr/>
      </dsp:nvSpPr>
      <dsp:spPr>
        <a:xfrm>
          <a:off x="1758882" y="1601121"/>
          <a:ext cx="2121034" cy="53025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PySpark Loading</a:t>
          </a:r>
        </a:p>
      </dsp:txBody>
      <dsp:txXfrm>
        <a:off x="1774413" y="1616652"/>
        <a:ext cx="2089972" cy="499196"/>
      </dsp:txXfrm>
    </dsp:sp>
    <dsp:sp modelId="{30FCEBE0-F97C-4EB1-948B-A82CD7C57832}">
      <dsp:nvSpPr>
        <dsp:cNvPr id="0" name=""/>
        <dsp:cNvSpPr/>
      </dsp:nvSpPr>
      <dsp:spPr>
        <a:xfrm rot="5400000">
          <a:off x="2719976" y="2144637"/>
          <a:ext cx="198847" cy="23861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2164521"/>
        <a:ext cx="143170" cy="139193"/>
      </dsp:txXfrm>
    </dsp:sp>
    <dsp:sp modelId="{F647C617-9BD4-474A-82DD-ED8D25D21AF0}">
      <dsp:nvSpPr>
        <dsp:cNvPr id="0" name=""/>
        <dsp:cNvSpPr/>
      </dsp:nvSpPr>
      <dsp:spPr>
        <a:xfrm>
          <a:off x="1758882" y="2396509"/>
          <a:ext cx="2121034" cy="530258"/>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Inspection and Cleaning</a:t>
          </a:r>
        </a:p>
      </dsp:txBody>
      <dsp:txXfrm>
        <a:off x="1774413" y="2412040"/>
        <a:ext cx="2089972" cy="499196"/>
      </dsp:txXfrm>
    </dsp:sp>
    <dsp:sp modelId="{0DBB7454-C5A8-49E6-B91A-54121835D87A}">
      <dsp:nvSpPr>
        <dsp:cNvPr id="0" name=""/>
        <dsp:cNvSpPr/>
      </dsp:nvSpPr>
      <dsp:spPr>
        <a:xfrm rot="5400000">
          <a:off x="2719976" y="2940025"/>
          <a:ext cx="198847" cy="238616"/>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2959909"/>
        <a:ext cx="143170" cy="139193"/>
      </dsp:txXfrm>
    </dsp:sp>
    <dsp:sp modelId="{079481CC-6F18-4923-A8B9-D1F6CF2A9796}">
      <dsp:nvSpPr>
        <dsp:cNvPr id="0" name=""/>
        <dsp:cNvSpPr/>
      </dsp:nvSpPr>
      <dsp:spPr>
        <a:xfrm>
          <a:off x="1758882" y="3191898"/>
          <a:ext cx="2121034" cy="53025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Feature Engineering</a:t>
          </a:r>
        </a:p>
      </dsp:txBody>
      <dsp:txXfrm>
        <a:off x="1774413" y="3207429"/>
        <a:ext cx="2089972" cy="499196"/>
      </dsp:txXfrm>
    </dsp:sp>
    <dsp:sp modelId="{8B6F5D1D-3BB1-46B4-9684-3CED8AB21B4F}">
      <dsp:nvSpPr>
        <dsp:cNvPr id="0" name=""/>
        <dsp:cNvSpPr/>
      </dsp:nvSpPr>
      <dsp:spPr>
        <a:xfrm rot="5400000">
          <a:off x="2719976" y="3735413"/>
          <a:ext cx="198847" cy="238616"/>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3755297"/>
        <a:ext cx="143170" cy="139193"/>
      </dsp:txXfrm>
    </dsp:sp>
    <dsp:sp modelId="{D9121FEA-FCAE-4AB7-B2C5-48EA9A31F1C4}">
      <dsp:nvSpPr>
        <dsp:cNvPr id="0" name=""/>
        <dsp:cNvSpPr/>
      </dsp:nvSpPr>
      <dsp:spPr>
        <a:xfrm>
          <a:off x="1758882" y="3987286"/>
          <a:ext cx="2121034" cy="53025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Exploratory Data Analysis</a:t>
          </a:r>
        </a:p>
      </dsp:txBody>
      <dsp:txXfrm>
        <a:off x="1774413" y="4002817"/>
        <a:ext cx="2089972" cy="499196"/>
      </dsp:txXfrm>
    </dsp:sp>
    <dsp:sp modelId="{F6ECFD96-D90C-4675-A8B0-9B8660F08F07}">
      <dsp:nvSpPr>
        <dsp:cNvPr id="0" name=""/>
        <dsp:cNvSpPr/>
      </dsp:nvSpPr>
      <dsp:spPr>
        <a:xfrm rot="5400000">
          <a:off x="2719976" y="4530801"/>
          <a:ext cx="198847" cy="23861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4550685"/>
        <a:ext cx="143170" cy="139193"/>
      </dsp:txXfrm>
    </dsp:sp>
    <dsp:sp modelId="{A5BFF6D0-895E-4C18-84D6-9C1F2B94C814}">
      <dsp:nvSpPr>
        <dsp:cNvPr id="0" name=""/>
        <dsp:cNvSpPr/>
      </dsp:nvSpPr>
      <dsp:spPr>
        <a:xfrm>
          <a:off x="1758882" y="4782674"/>
          <a:ext cx="2121034" cy="530258"/>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Spark ML Pipeline</a:t>
          </a:r>
        </a:p>
      </dsp:txBody>
      <dsp:txXfrm>
        <a:off x="1774413" y="4798205"/>
        <a:ext cx="2089972" cy="499196"/>
      </dsp:txXfrm>
    </dsp:sp>
    <dsp:sp modelId="{3FDE34E9-B740-4575-8B78-4264B4819B41}">
      <dsp:nvSpPr>
        <dsp:cNvPr id="0" name=""/>
        <dsp:cNvSpPr/>
      </dsp:nvSpPr>
      <dsp:spPr>
        <a:xfrm rot="5400000">
          <a:off x="2719976" y="5326189"/>
          <a:ext cx="198847" cy="23861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5346073"/>
        <a:ext cx="143170" cy="139193"/>
      </dsp:txXfrm>
    </dsp:sp>
    <dsp:sp modelId="{E9BC3A40-83E4-4075-9046-00F96D62CC40}">
      <dsp:nvSpPr>
        <dsp:cNvPr id="0" name=""/>
        <dsp:cNvSpPr/>
      </dsp:nvSpPr>
      <dsp:spPr>
        <a:xfrm>
          <a:off x="1758882" y="5578062"/>
          <a:ext cx="2121034" cy="530258"/>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Model Evaluation</a:t>
          </a:r>
        </a:p>
      </dsp:txBody>
      <dsp:txXfrm>
        <a:off x="1774413" y="5593593"/>
        <a:ext cx="2089972" cy="499196"/>
      </dsp:txXfrm>
    </dsp:sp>
    <dsp:sp modelId="{765A52FD-3D6F-4C9A-AE76-44ED7D1E40D5}">
      <dsp:nvSpPr>
        <dsp:cNvPr id="0" name=""/>
        <dsp:cNvSpPr/>
      </dsp:nvSpPr>
      <dsp:spPr>
        <a:xfrm rot="5400000">
          <a:off x="2719976" y="6121577"/>
          <a:ext cx="198847" cy="23861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6141461"/>
        <a:ext cx="143170" cy="139193"/>
      </dsp:txXfrm>
    </dsp:sp>
    <dsp:sp modelId="{A0BC9FC2-10F9-48D4-A69C-79FC374A10A1}">
      <dsp:nvSpPr>
        <dsp:cNvPr id="0" name=""/>
        <dsp:cNvSpPr/>
      </dsp:nvSpPr>
      <dsp:spPr>
        <a:xfrm>
          <a:off x="1758882" y="6373450"/>
          <a:ext cx="2121034" cy="530258"/>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Scalability Analysis</a:t>
          </a:r>
        </a:p>
      </dsp:txBody>
      <dsp:txXfrm>
        <a:off x="1774413" y="6388981"/>
        <a:ext cx="2089972" cy="499196"/>
      </dsp:txXfrm>
    </dsp:sp>
    <dsp:sp modelId="{7C86E25D-EA4C-4D17-8C84-22DB1B96D8CA}">
      <dsp:nvSpPr>
        <dsp:cNvPr id="0" name=""/>
        <dsp:cNvSpPr/>
      </dsp:nvSpPr>
      <dsp:spPr>
        <a:xfrm rot="5400000">
          <a:off x="2719976" y="6916965"/>
          <a:ext cx="198847" cy="238616"/>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2747815" y="6936849"/>
        <a:ext cx="143170" cy="139193"/>
      </dsp:txXfrm>
    </dsp:sp>
    <dsp:sp modelId="{0223D855-0E61-423D-838B-60EE69EB2CBA}">
      <dsp:nvSpPr>
        <dsp:cNvPr id="0" name=""/>
        <dsp:cNvSpPr/>
      </dsp:nvSpPr>
      <dsp:spPr>
        <a:xfrm>
          <a:off x="1758882" y="7168838"/>
          <a:ext cx="2121034" cy="53025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Final Comparison</a:t>
          </a:r>
        </a:p>
      </dsp:txBody>
      <dsp:txXfrm>
        <a:off x="1774413" y="7184369"/>
        <a:ext cx="2089972" cy="4991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introduces the research problem and explains the motivation behind the study. The rapid increase in digital financial transactions and online payment systems has significantly increased fraudulent activities worldwide. Traditional fraud detection approaches often struggle with processing large-scale transaction data efficiently and are unable to detect complex fraud patterns in real time. The slide also highlights major research gaps, including limited scalability analysis, imbalanced datasets, and the lack of comparative studies on </a:t>
            </a:r>
            <a:r>
              <a:rPr lang="en-US" dirty="0" err="1"/>
              <a:t>PySpark</a:t>
            </a:r>
            <a:r>
              <a:rPr lang="en-US" dirty="0"/>
              <a:t>-based fraud detection models. The proposed research aims to address these challenges by developing scalable machine learning solutions that can improve fraud detection accuracy, processing efficiency, and overall financial 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presents the core direction and objectives of the research project. The study aims to investigate how </a:t>
            </a:r>
            <a:r>
              <a:rPr lang="en-US" dirty="0" err="1"/>
              <a:t>PySpark</a:t>
            </a:r>
            <a:r>
              <a:rPr lang="en-US" dirty="0"/>
              <a:t>-based machine learning models can be </a:t>
            </a:r>
            <a:r>
              <a:rPr lang="en-US" dirty="0" err="1"/>
              <a:t>optimised</a:t>
            </a:r>
            <a:r>
              <a:rPr lang="en-US" dirty="0"/>
              <a:t> for scalable and computationally efficient fraud detection on large-scale financial transaction data. The research focuses on preprocessing the fraud detection dataset, developing multiple machine learning models, and evaluating their performance using standard fraud detection metrics. In addition, scalability and real-time processing efficiency will be </a:t>
            </a:r>
            <a:r>
              <a:rPr lang="en-US" dirty="0" err="1"/>
              <a:t>analysed</a:t>
            </a:r>
            <a:r>
              <a:rPr lang="en-US" dirty="0"/>
              <a:t> using distributed computing techniques. The final deliverable will be a scalable fraud detection analytics framework that can support banks, FinTech </a:t>
            </a:r>
            <a:r>
              <a:rPr lang="en-US" dirty="0" err="1"/>
              <a:t>organisations</a:t>
            </a:r>
            <a:r>
              <a:rPr lang="en-US" dirty="0"/>
              <a:t>, and online payment systems in improving transaction security and fraud prevention.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a:t>
            </a:r>
            <a:r>
              <a:rPr lang="en-US" dirty="0" err="1"/>
              <a:t>summarises</a:t>
            </a:r>
            <a:r>
              <a:rPr lang="en-US" dirty="0"/>
              <a:t> the key findings from the literature review related to fraud detection and big data analytics. Previous studies show that machine learning models such as Logistic Regression, Random Forest, and Gradient Boosted Trees are commonly used for fraud detection because of their predictive capabilities. Research also highlights the importance of </a:t>
            </a:r>
            <a:r>
              <a:rPr lang="en-US" dirty="0" err="1"/>
              <a:t>PySpark</a:t>
            </a:r>
            <a:r>
              <a:rPr lang="en-US" dirty="0"/>
              <a:t> for handling large-scale datasets through distributed processing. Another major issue identified is class imbalance, which negatively affects fraud prediction performance. However, many existing studies focus mainly on model accuracy and pay limited attention to scalability and computational efficiency. This project aims to address these research gaps using distributed machine learning techniques.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explains the overall research design adopted for the project. A </a:t>
            </a:r>
            <a:r>
              <a:rPr lang="en-US" sz="1200" dirty="0">
                <a:solidFill>
                  <a:srgbClr val="000000"/>
                </a:solidFill>
                <a:latin typeface="Canva Sans"/>
                <a:sym typeface="Canva Sans"/>
              </a:rPr>
              <a:t>p</a:t>
            </a:r>
            <a:r>
              <a:rPr lang="en-US" sz="1200" dirty="0">
                <a:solidFill>
                  <a:srgbClr val="000000"/>
                </a:solidFill>
                <a:latin typeface="Canva Sans"/>
                <a:ea typeface="Canva Sans"/>
                <a:cs typeface="Canva Sans"/>
                <a:sym typeface="Canva Sans"/>
              </a:rPr>
              <a:t>ositivist</a:t>
            </a:r>
            <a:r>
              <a:rPr lang="en-US" dirty="0"/>
              <a:t> philosophy is selected because the study relies on objective numerical analysis and measurable results. The research follows a experimental approach by testing existing machine learning theories on the fraud detection dataset. Quantitative experimental methods are used to evaluate model performance and scalability. The research strategy includes data preprocessing, feature engineering, model training, and performance evaluation using distributed </a:t>
            </a:r>
            <a:r>
              <a:rPr lang="en-US" dirty="0" err="1"/>
              <a:t>PySpark</a:t>
            </a:r>
            <a:r>
              <a:rPr lang="en-US" dirty="0"/>
              <a:t> ML pipelines. A cross-sectional time horizon is chosen because the dataset represents existing transaction records. The main tools and technologies include Python, </a:t>
            </a:r>
            <a:r>
              <a:rPr lang="en-US" dirty="0" err="1"/>
              <a:t>PySpark</a:t>
            </a:r>
            <a:r>
              <a:rPr lang="en-US" dirty="0"/>
              <a:t>, Spark </a:t>
            </a:r>
            <a:r>
              <a:rPr lang="en-US" dirty="0" err="1"/>
              <a:t>MLlib</a:t>
            </a:r>
            <a:r>
              <a:rPr lang="en-US" dirty="0"/>
              <a:t>, Pandas, and machine learning algorithms.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discusses the major risks, ethical considerations, and project issues associated with the research. One key risk is the large size of the fraud detection dataset, which may increase processing and training time. This will be managed using </a:t>
            </a:r>
            <a:r>
              <a:rPr lang="en-US" dirty="0" err="1"/>
              <a:t>PySpark</a:t>
            </a:r>
            <a:r>
              <a:rPr lang="en-US" dirty="0"/>
              <a:t> distributed computing and </a:t>
            </a:r>
            <a:r>
              <a:rPr lang="en-US" dirty="0" err="1"/>
              <a:t>optimisation</a:t>
            </a:r>
            <a:r>
              <a:rPr lang="en-US" dirty="0"/>
              <a:t> techniques. Another challenge is class imbalance, which can affect fraud detection accuracy, so sampling methods will be applied. Ethical considerations include maintaining data privacy, avoiding biased predictions, and ensuring responsible use of financial data. Additional issues include data quality problems, hardware limitations, and time constraints during model training and scalability evaluation.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presents the project timeline and major milestones planned throughout the research process. The project begins with topic selection, objective definition, and literature review to understand current fraud detection techniques and identify research gaps. </a:t>
            </a:r>
            <a:r>
              <a:rPr lang="en-US" b="0" dirty="0">
                <a:latin typeface="Canva Sans" panose="020B0604020202020204" charset="0"/>
              </a:rPr>
              <a:t>The </a:t>
            </a:r>
            <a:r>
              <a:rPr lang="en-US" sz="1200" b="0" i="0" kern="1200" dirty="0">
                <a:solidFill>
                  <a:schemeClr val="tx1"/>
                </a:solidFill>
                <a:effectLst/>
                <a:latin typeface="Canva Sans" panose="020B0604020202020204" charset="0"/>
                <a:ea typeface="+mn-ea"/>
                <a:cs typeface="+mn-cs"/>
              </a:rPr>
              <a:t>Synthetic Financial</a:t>
            </a:r>
            <a:r>
              <a:rPr lang="en-US" sz="1200" b="1" i="0" kern="1200" dirty="0">
                <a:solidFill>
                  <a:schemeClr val="tx1"/>
                </a:solidFill>
                <a:effectLst/>
                <a:latin typeface="+mn-lt"/>
                <a:ea typeface="+mn-ea"/>
                <a:cs typeface="+mn-cs"/>
              </a:rPr>
              <a:t> </a:t>
            </a:r>
            <a:r>
              <a:rPr lang="en-US" dirty="0"/>
              <a:t>dataset will then be collected, cleaned, and preprocessed before performing exploratory data analysis to identify fraud patterns. In the next phase, machine learning models including Logistic Regression, Random Forest, and Gradient Boosted Trees will be developed using </a:t>
            </a:r>
            <a:r>
              <a:rPr lang="en-US" dirty="0" err="1"/>
              <a:t>PySpark</a:t>
            </a:r>
            <a:r>
              <a:rPr lang="en-US" dirty="0"/>
              <a:t>. The models will then be evaluated using multiple performance metrics and scalability testing. Finally, the project concludes with result analysis, report writing, and presentation preparation.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C787E-2106-CBA8-147E-2DE57023514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4B8D3B-28A3-60D4-4236-12540E0E643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0B993BB-9791-9753-D89E-5E8A4ABFB5E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C806FAD-D6F5-C761-E04D-78E0AFD6683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AB26F7E-A593-A015-FA90-B75C848F56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presents the main deliverables and the overall architecture of my project. The primary deliverable is a scalable fraud detection framework developed using PySpark and Spark MLlib. The system takes financial transaction data as input and processes it through several stages, starting with data acquisition and loading. The next stages involve data inspection, cleaning and feature engineering, followed by exploratory data analysis to understand fraud patterns. After this, the prepared data is passed through the machine learning pipeline. Three models are implemented: Logistic Regression, Random Forest and Gradient Boosted Trees. Finally, the models are evaluated using fraud detection metrics and their computational performance is analysed through scalability testing. The architecture therefore ensures that both predictive performance and processing efficiency are considered.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a:extLst>
              <a:ext uri="{FF2B5EF4-FFF2-40B4-BE49-F238E27FC236}">
                <a16:creationId xmlns:a16="http://schemas.microsoft.com/office/drawing/2014/main" id="{8127AF13-F790-DC20-ACA9-556D293A0E7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CA8A4E0-6878-DD6E-531F-06C11E0F574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58362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E2B5F-A8CE-D7EB-58F0-7BC8C2E7DB4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094C8C-E20B-D2BA-C06A-4EBC32EC27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B52437A-31EC-8E56-FC17-A6311DE8C1A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76B8007-5947-9299-052B-0D6AAD828D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B28FC57-475E-F55D-37FA-8DA69F85D3F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just"/>
            <a:r>
              <a:rPr lang="en-US" dirty="0"/>
              <a:t>This slide explains how the system was developed and tested. The development lifecycle started with collecting and understanding the financial transaction dataset. The data was then cleaned and transformed before feature engineering and exploratory analysis were performed. For implementation, Python and PySpark were used as the main development technologies, while Spark MLlib provided the machine learning functionality. Pandas and NumPy supported data analysis, and Matplotlib and Seaborn were used for visualization. The project was developed and executed in the research environment. Testing covered the complete workflow, including data processing, model training, prediction generation, evaluation metrics, confusion matrices and scalability. The implementation is best described as a functional research prototype rather than a production banking system.</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a:extLst>
              <a:ext uri="{FF2B5EF4-FFF2-40B4-BE49-F238E27FC236}">
                <a16:creationId xmlns:a16="http://schemas.microsoft.com/office/drawing/2014/main" id="{81A2C9AA-9D51-ED51-B15B-EFACEBCB483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2BD84B0-20B3-4B1D-2D9C-24DFA7B4E3E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53274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72846-1D2D-8876-10BA-8F32BE521B2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2CEA16-88F0-5260-735C-2E99ECDFC1F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271DE93-FE27-D3B9-0070-6033A369CEB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67719E-A62A-4902-7F93-DCBD6615FAC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C7C5477-8DB1-7CAE-8E65-77CFDDC402E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code shown here demonstrates the implementation of the Random Forest model, logistic regression and Gradient Boosting using Spark MLlib. The models uses the engineered feature vector and fraud-class weighting before being trained on the training dataset.</a:t>
            </a:r>
          </a:p>
        </p:txBody>
      </p:sp>
      <p:sp>
        <p:nvSpPr>
          <p:cNvPr id="6" name="Footer Placeholder 5">
            <a:extLst>
              <a:ext uri="{FF2B5EF4-FFF2-40B4-BE49-F238E27FC236}">
                <a16:creationId xmlns:a16="http://schemas.microsoft.com/office/drawing/2014/main" id="{6C5D9F36-BE89-9E9D-103A-66F5B29E3F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3F5F219-6B26-F83D-FA69-289779190EB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2679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EAE7-24B2-B917-B47C-E5190499B4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C2910F-0079-2D1E-C1E8-14AF85B1889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8F5CE6D-1684-A14D-D3C9-E89D3E35C3F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2048B77-82EF-9D2E-AFD2-7F1D2BAA22B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F3F2319-04BA-48AF-5E16-D3EA52106AA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Logistic Regression:</a:t>
            </a:r>
            <a:r>
              <a:rPr kumimoji="0" lang="en-US" altLang="en-US" sz="1200" b="0" i="0" u="none" strike="noStrike" cap="none" normalizeH="0" baseline="0" dirty="0">
                <a:ln>
                  <a:noFill/>
                </a:ln>
                <a:solidFill>
                  <a:schemeClr val="tx1"/>
                </a:solidFill>
                <a:effectLst/>
                <a:latin typeface="Arial" panose="020B0604020202020204" pitchFamily="34" charset="0"/>
              </a:rPr>
              <a:t> ROC-AUC </a:t>
            </a:r>
            <a:r>
              <a:rPr kumimoji="0" lang="en-US" altLang="en-US" sz="1200" b="1" i="0" u="none" strike="noStrike" cap="none" normalizeH="0" baseline="0" dirty="0">
                <a:ln>
                  <a:noFill/>
                </a:ln>
                <a:solidFill>
                  <a:schemeClr val="tx1"/>
                </a:solidFill>
                <a:effectLst/>
                <a:latin typeface="Arial" panose="020B0604020202020204" pitchFamily="34" charset="0"/>
              </a:rPr>
              <a:t>0.8191</a:t>
            </a:r>
            <a:r>
              <a:rPr kumimoji="0" lang="en-US" altLang="en-US" sz="1200" b="0" i="0" u="none" strike="noStrike" cap="none" normalizeH="0" baseline="0" dirty="0">
                <a:ln>
                  <a:noFill/>
                </a:ln>
                <a:solidFill>
                  <a:schemeClr val="tx1"/>
                </a:solidFill>
                <a:effectLst/>
                <a:latin typeface="Arial" panose="020B0604020202020204" pitchFamily="34" charset="0"/>
              </a:rPr>
              <a:t>, fraud recall </a:t>
            </a:r>
            <a:r>
              <a:rPr kumimoji="0" lang="en-US" altLang="en-US" sz="1200" b="1" i="0" u="none" strike="noStrike" cap="none" normalizeH="0" baseline="0" dirty="0">
                <a:ln>
                  <a:noFill/>
                </a:ln>
                <a:solidFill>
                  <a:schemeClr val="tx1"/>
                </a:solidFill>
                <a:effectLst/>
                <a:latin typeface="Arial" panose="020B0604020202020204" pitchFamily="34" charset="0"/>
              </a:rPr>
              <a:t>74.43%</a:t>
            </a:r>
            <a:r>
              <a:rPr kumimoji="0" lang="en-US" altLang="en-US" sz="1200" b="0" i="0" u="none" strike="noStrike" cap="none" normalizeH="0" baseline="0" dirty="0">
                <a:ln>
                  <a:noFill/>
                </a:ln>
                <a:solidFill>
                  <a:schemeClr val="tx1"/>
                </a:solidFill>
                <a:effectLst/>
                <a:latin typeface="Arial" panose="020B0604020202020204" pitchFamily="34" charset="0"/>
              </a:rPr>
              <a:t>, training time </a:t>
            </a:r>
            <a:r>
              <a:rPr kumimoji="0" lang="en-US" altLang="en-US" sz="1200" b="1" i="0" u="none" strike="noStrike" cap="none" normalizeH="0" baseline="0" dirty="0">
                <a:ln>
                  <a:noFill/>
                </a:ln>
                <a:solidFill>
                  <a:schemeClr val="tx1"/>
                </a:solidFill>
                <a:effectLst/>
                <a:latin typeface="Arial" panose="020B0604020202020204" pitchFamily="34" charset="0"/>
              </a:rPr>
              <a:t>37.31 seconds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Random Forest:</a:t>
            </a:r>
            <a:r>
              <a:rPr kumimoji="0" lang="en-US" altLang="en-US" sz="1200" b="0" i="0" u="none" strike="noStrike" cap="none" normalizeH="0" baseline="0" dirty="0">
                <a:ln>
                  <a:noFill/>
                </a:ln>
                <a:solidFill>
                  <a:schemeClr val="tx1"/>
                </a:solidFill>
                <a:effectLst/>
                <a:latin typeface="Arial" panose="020B0604020202020204" pitchFamily="34" charset="0"/>
              </a:rPr>
              <a:t> ROC-AUC </a:t>
            </a:r>
            <a:r>
              <a:rPr kumimoji="0" lang="en-US" altLang="en-US" sz="1200" b="1" i="0" u="none" strike="noStrike" cap="none" normalizeH="0" baseline="0" dirty="0">
                <a:ln>
                  <a:noFill/>
                </a:ln>
                <a:solidFill>
                  <a:schemeClr val="tx1"/>
                </a:solidFill>
                <a:effectLst/>
                <a:latin typeface="Arial" panose="020B0604020202020204" pitchFamily="34" charset="0"/>
              </a:rPr>
              <a:t>0.8959</a:t>
            </a:r>
            <a:r>
              <a:rPr kumimoji="0" lang="en-US" altLang="en-US" sz="1200" b="0" i="0" u="none" strike="noStrike" cap="none" normalizeH="0" baseline="0" dirty="0">
                <a:ln>
                  <a:noFill/>
                </a:ln>
                <a:solidFill>
                  <a:schemeClr val="tx1"/>
                </a:solidFill>
                <a:effectLst/>
                <a:latin typeface="Arial" panose="020B0604020202020204" pitchFamily="34" charset="0"/>
              </a:rPr>
              <a:t>, fraud recall </a:t>
            </a:r>
            <a:r>
              <a:rPr kumimoji="0" lang="en-US" altLang="en-US" sz="1200" b="1" i="0" u="none" strike="noStrike" cap="none" normalizeH="0" baseline="0" dirty="0">
                <a:ln>
                  <a:noFill/>
                </a:ln>
                <a:solidFill>
                  <a:schemeClr val="tx1"/>
                </a:solidFill>
                <a:effectLst/>
                <a:latin typeface="Arial" panose="020B0604020202020204" pitchFamily="34" charset="0"/>
              </a:rPr>
              <a:t>76.44%</a:t>
            </a:r>
            <a:r>
              <a:rPr kumimoji="0" lang="en-US" altLang="en-US" sz="1200" b="0" i="0" u="none" strike="noStrike" cap="none" normalizeH="0" baseline="0" dirty="0">
                <a:ln>
                  <a:noFill/>
                </a:ln>
                <a:solidFill>
                  <a:schemeClr val="tx1"/>
                </a:solidFill>
                <a:effectLst/>
                <a:latin typeface="Arial" panose="020B0604020202020204" pitchFamily="34" charset="0"/>
              </a:rPr>
              <a:t>, training time </a:t>
            </a:r>
            <a:r>
              <a:rPr kumimoji="0" lang="en-US" altLang="en-US" sz="1200" b="1" i="0" u="none" strike="noStrike" cap="none" normalizeH="0" baseline="0" dirty="0">
                <a:ln>
                  <a:noFill/>
                </a:ln>
                <a:solidFill>
                  <a:schemeClr val="tx1"/>
                </a:solidFill>
                <a:effectLst/>
                <a:latin typeface="Arial" panose="020B0604020202020204" pitchFamily="34" charset="0"/>
              </a:rPr>
              <a:t>187.83 seconds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Gradient Boosted Trees:</a:t>
            </a:r>
            <a:r>
              <a:rPr kumimoji="0" lang="en-US" altLang="en-US" sz="1200" b="0" i="0" u="none" strike="noStrike" cap="none" normalizeH="0" baseline="0" dirty="0">
                <a:ln>
                  <a:noFill/>
                </a:ln>
                <a:solidFill>
                  <a:schemeClr val="tx1"/>
                </a:solidFill>
                <a:effectLst/>
                <a:latin typeface="Arial" panose="020B0604020202020204" pitchFamily="34" charset="0"/>
              </a:rPr>
              <a:t> ROC-AUC </a:t>
            </a:r>
            <a:r>
              <a:rPr kumimoji="0" lang="en-US" altLang="en-US" sz="1200" b="1" i="0" u="none" strike="noStrike" cap="none" normalizeH="0" baseline="0" dirty="0">
                <a:ln>
                  <a:noFill/>
                </a:ln>
                <a:solidFill>
                  <a:schemeClr val="tx1"/>
                </a:solidFill>
                <a:effectLst/>
                <a:latin typeface="Arial" panose="020B0604020202020204" pitchFamily="34" charset="0"/>
              </a:rPr>
              <a:t>0.9127</a:t>
            </a:r>
            <a:r>
              <a:rPr kumimoji="0" lang="en-US" altLang="en-US" sz="1200" b="0" i="0" u="none" strike="noStrike" cap="none" normalizeH="0" baseline="0" dirty="0">
                <a:ln>
                  <a:noFill/>
                </a:ln>
                <a:solidFill>
                  <a:schemeClr val="tx1"/>
                </a:solidFill>
                <a:effectLst/>
                <a:latin typeface="Arial" panose="020B0604020202020204" pitchFamily="34" charset="0"/>
              </a:rPr>
              <a:t>, fraud recall </a:t>
            </a:r>
            <a:r>
              <a:rPr kumimoji="0" lang="en-US" altLang="en-US" sz="1200" b="1" i="0" u="none" strike="noStrike" cap="none" normalizeH="0" baseline="0" dirty="0">
                <a:ln>
                  <a:noFill/>
                </a:ln>
                <a:solidFill>
                  <a:schemeClr val="tx1"/>
                </a:solidFill>
                <a:effectLst/>
                <a:latin typeface="Arial" panose="020B0604020202020204" pitchFamily="34" charset="0"/>
              </a:rPr>
              <a:t>80.13%</a:t>
            </a:r>
            <a:r>
              <a:rPr kumimoji="0" lang="en-US" altLang="en-US" sz="1200" b="0" i="0" u="none" strike="noStrike" cap="none" normalizeH="0" baseline="0" dirty="0">
                <a:ln>
                  <a:noFill/>
                </a:ln>
                <a:solidFill>
                  <a:schemeClr val="tx1"/>
                </a:solidFill>
                <a:effectLst/>
                <a:latin typeface="Arial" panose="020B0604020202020204" pitchFamily="34" charset="0"/>
              </a:rPr>
              <a:t>, training time </a:t>
            </a:r>
            <a:r>
              <a:rPr kumimoji="0" lang="en-US" altLang="en-US" sz="1200" b="1" i="0" u="none" strike="noStrike" cap="none" normalizeH="0" baseline="0" dirty="0">
                <a:ln>
                  <a:noFill/>
                </a:ln>
                <a:solidFill>
                  <a:schemeClr val="tx1"/>
                </a:solidFill>
                <a:effectLst/>
                <a:latin typeface="Arial" panose="020B0604020202020204" pitchFamily="34" charset="0"/>
              </a:rPr>
              <a:t>264.27 seconds</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GBT achieved the best overall fraud-detection performance</a:t>
            </a:r>
            <a:r>
              <a:rPr kumimoji="0" lang="en-US" altLang="en-US" sz="1200" b="0" i="0" u="none" strike="noStrike" cap="none" normalizeH="0" baseline="0" dirty="0">
                <a:ln>
                  <a:noFill/>
                </a:ln>
                <a:solidFill>
                  <a:schemeClr val="tx1"/>
                </a:solidFill>
                <a:effectLst/>
                <a:latin typeface="Arial" panose="020B0604020202020204" pitchFamily="34" charset="0"/>
              </a:rPr>
              <a:t>, particularly in ROC-AUC and fraud recall.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Logistic Regression was the </a:t>
            </a:r>
            <a:r>
              <a:rPr kumimoji="0" lang="en-US" altLang="en-US" sz="1200" b="1" i="0" u="none" strike="noStrike" cap="none" normalizeH="0" baseline="0" dirty="0">
                <a:ln>
                  <a:noFill/>
                </a:ln>
                <a:solidFill>
                  <a:schemeClr val="tx1"/>
                </a:solidFill>
                <a:effectLst/>
                <a:latin typeface="Arial" panose="020B0604020202020204" pitchFamily="34" charset="0"/>
              </a:rPr>
              <a:t>fastest model</a:t>
            </a:r>
            <a:r>
              <a:rPr kumimoji="0" lang="en-US" altLang="en-US" sz="1200" b="0" i="0" u="none" strike="noStrike" cap="none" normalizeH="0" baseline="0" dirty="0">
                <a:ln>
                  <a:noFill/>
                </a:ln>
                <a:solidFill>
                  <a:schemeClr val="tx1"/>
                </a:solidFill>
                <a:effectLst/>
                <a:latin typeface="Arial" panose="020B0604020202020204" pitchFamily="34" charset="0"/>
              </a:rPr>
              <a:t>, demonstrating a clear trade-off between predictive performance and computational efficiency.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Scalability testing was also performed using different proportions of the training data.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a:extLst>
              <a:ext uri="{FF2B5EF4-FFF2-40B4-BE49-F238E27FC236}">
                <a16:creationId xmlns:a16="http://schemas.microsoft.com/office/drawing/2014/main" id="{A29B8773-9453-8D36-9F90-88FD9BFB390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3FF5E1D-1579-5288-AE73-EA1257268BA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7663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CCAB3-CCA0-86C6-A657-5CEF13441F8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9BD42-6272-EB21-CA35-9853C3416EE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3E46AE6-6AA6-765A-C72B-1941EE1DC9F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10EF4D6-792A-AE9A-A35D-7338C314D7F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D073DA-45FD-0111-BDAA-D11C19C97D4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evaluation confirms that the implementation remained aligned with the research aim by combining machine learning fraud detection with PySpark-based scalable processing. The project did not focus solely on accuracy; it also evaluated recall, ROC-AUC and computational efficiency, directly addressing the identified research gap. For the systematic evaluation, I assessed the project against its original aim, objectives and research question. The main strength is that the implementation successfully combines PySpark with three machine learning models and evaluates both predictive performance and computational efficiency. However, there are limitations, particularly the computational cost of the more complex models, class imbalance and the absence of production deployment. My self-evaluation therefore considers the core research and implementation objectives achieved, while real-time production deployment and external user validation remain areas for future development.</a:t>
            </a:r>
          </a:p>
        </p:txBody>
      </p:sp>
      <p:sp>
        <p:nvSpPr>
          <p:cNvPr id="6" name="Footer Placeholder 5">
            <a:extLst>
              <a:ext uri="{FF2B5EF4-FFF2-40B4-BE49-F238E27FC236}">
                <a16:creationId xmlns:a16="http://schemas.microsoft.com/office/drawing/2014/main" id="{A56700DE-2ED0-391E-C2A8-0415FFC7FA9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58A58F5-9F83-B641-46FC-259AF3DD94E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78531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E5238-0860-B77F-77D2-1994E705215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BFB66B-7C17-13C8-B005-3AC5797A309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649298E-524F-F6AC-DF4F-F1ABB4C00ED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81D2A09-8F07-E0AE-ED80-24607DE432F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BEB63A-B1BB-7A61-D6D1-FF05461B09B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project addressed the main literature gaps by implementing a scalable PySpark framework and comparing three machine learning models. Class imbalance was managed using weighting, while scalability and processing efficiency were evaluated alongside accuracy. All four objectives were substantially achieved. Data preprocessing, model development and performance evaluation were fully completed. Scalability testing was also conducted, although real-time production deployment was not fully demonstrated and remains an area for future development.</a:t>
            </a:r>
          </a:p>
        </p:txBody>
      </p:sp>
      <p:sp>
        <p:nvSpPr>
          <p:cNvPr id="6" name="Footer Placeholder 5">
            <a:extLst>
              <a:ext uri="{FF2B5EF4-FFF2-40B4-BE49-F238E27FC236}">
                <a16:creationId xmlns:a16="http://schemas.microsoft.com/office/drawing/2014/main" id="{303CC597-7389-DCF9-DC11-3CC219E6347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2384293-838F-9287-1BED-DB71F2D0A1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34612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016/j.heliyon.2022.e08981" TargetMode="External"/><Relationship Id="rId3" Type="http://schemas.openxmlformats.org/officeDocument/2006/relationships/hyperlink" Target="https://doi.org/10.51594/csitrj.v5i6.1252" TargetMode="External"/><Relationship Id="rId7" Type="http://schemas.openxmlformats.org/officeDocument/2006/relationships/hyperlink" Target="https://www.researchgate.net/publication/388817710_Evaluating_the_Role_of_Class_Imbalance_in_Fraud_Detecti"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doi.org/10.5281/zenodo.16491755" TargetMode="External"/><Relationship Id="rId5" Type="http://schemas.openxmlformats.org/officeDocument/2006/relationships/hyperlink" Target="https://www.researchgate.net/publication/392331388_Applying_Logistic_Regression_for_the_Detection_of_Fraud" TargetMode="External"/><Relationship Id="rId4" Type="http://schemas.openxmlformats.org/officeDocument/2006/relationships/hyperlink" Target="https://doi.org/10.54254/2755-2721/2025.tj233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085478"/>
            <a:ext cx="18288000" cy="3581400"/>
            <a:chOff x="0" y="0"/>
            <a:chExt cx="24384000" cy="4775200"/>
          </a:xfrm>
        </p:grpSpPr>
        <p:sp>
          <p:nvSpPr>
            <p:cNvPr id="3" name="Freeform 3"/>
            <p:cNvSpPr/>
            <p:nvPr/>
          </p:nvSpPr>
          <p:spPr>
            <a:xfrm>
              <a:off x="0" y="0"/>
              <a:ext cx="24384000" cy="4775200"/>
            </a:xfrm>
            <a:custGeom>
              <a:avLst/>
              <a:gdLst/>
              <a:ahLst/>
              <a:cxnLst/>
              <a:rect l="l" t="t" r="r" b="b"/>
              <a:pathLst>
                <a:path w="24384000" h="4775200">
                  <a:moveTo>
                    <a:pt x="0" y="0"/>
                  </a:moveTo>
                  <a:lnTo>
                    <a:pt x="24384000" y="0"/>
                  </a:lnTo>
                  <a:lnTo>
                    <a:pt x="24384000" y="4775200"/>
                  </a:lnTo>
                  <a:lnTo>
                    <a:pt x="0" y="4775200"/>
                  </a:lnTo>
                  <a:close/>
                </a:path>
              </a:pathLst>
            </a:custGeom>
            <a:blipFill>
              <a:blip r:embed="rId3">
                <a:alphaModFix amt="0"/>
              </a:blip>
              <a:stretch>
                <a:fillRect t="-24623" r="25000" b="-24623"/>
              </a:stretch>
            </a:blipFill>
          </p:spPr>
          <p:txBody>
            <a:bodyPr/>
            <a:lstStyle/>
            <a:p>
              <a:endParaRPr lang="en-IN">
                <a:latin typeface="Arial" panose="020B0604020202020204" pitchFamily="34" charset="0"/>
                <a:cs typeface="Arial" panose="020B0604020202020204" pitchFamily="34" charset="0"/>
              </a:endParaRPr>
            </a:p>
          </p:txBody>
        </p:sp>
        <p:sp>
          <p:nvSpPr>
            <p:cNvPr id="4" name="TextBox 4"/>
            <p:cNvSpPr txBox="1"/>
            <p:nvPr/>
          </p:nvSpPr>
          <p:spPr>
            <a:xfrm>
              <a:off x="0" y="76200"/>
              <a:ext cx="24384000" cy="4699000"/>
            </a:xfrm>
            <a:prstGeom prst="rect">
              <a:avLst/>
            </a:prstGeom>
          </p:spPr>
          <p:txBody>
            <a:bodyPr lIns="0" tIns="0" rIns="0" bIns="0" rtlCol="0" anchor="b"/>
            <a:lstStyle/>
            <a:p>
              <a:pPr algn="ctr">
                <a:lnSpc>
                  <a:spcPts val="6480"/>
                </a:lnSpc>
              </a:pPr>
              <a:r>
                <a:rPr lang="en-US" sz="6000" dirty="0">
                  <a:solidFill>
                    <a:srgbClr val="000000"/>
                  </a:solidFill>
                  <a:latin typeface="Arial" panose="020B0604020202020204" pitchFamily="34" charset="0"/>
                  <a:ea typeface="Canva Sans"/>
                  <a:cs typeface="Arial" panose="020B0604020202020204" pitchFamily="34" charset="0"/>
                  <a:sym typeface="Canva Sans"/>
                </a:rPr>
                <a:t>A Comparative Research on Scalable Machine Learning Models for Fraud Detection Using Big Data Technologies</a:t>
              </a:r>
            </a:p>
          </p:txBody>
        </p:sp>
      </p:grpSp>
      <p:sp>
        <p:nvSpPr>
          <p:cNvPr id="5" name="TextBox 5"/>
          <p:cNvSpPr txBox="1"/>
          <p:nvPr/>
        </p:nvSpPr>
        <p:spPr>
          <a:xfrm>
            <a:off x="2377440" y="6057900"/>
            <a:ext cx="13533120" cy="1003095"/>
          </a:xfrm>
          <a:prstGeom prst="rect">
            <a:avLst/>
          </a:prstGeom>
        </p:spPr>
        <p:txBody>
          <a:bodyPr lIns="0" tIns="0" rIns="0" bIns="0" rtlCol="0" anchor="t">
            <a:spAutoFit/>
          </a:bodyPr>
          <a:lstStyle/>
          <a:p>
            <a:pPr algn="ctr">
              <a:lnSpc>
                <a:spcPts val="3888"/>
              </a:lnSpc>
            </a:pPr>
            <a:r>
              <a:rPr lang="en-US" sz="3600" dirty="0">
                <a:solidFill>
                  <a:srgbClr val="000000"/>
                </a:solidFill>
                <a:latin typeface="Arial" panose="020B0604020202020204" pitchFamily="34" charset="0"/>
                <a:ea typeface="Canva Sans"/>
                <a:cs typeface="Arial" panose="020B0604020202020204" pitchFamily="34" charset="0"/>
                <a:sym typeface="Canva Sans"/>
              </a:rPr>
              <a:t>Name:</a:t>
            </a:r>
          </a:p>
          <a:p>
            <a:pPr algn="ctr">
              <a:lnSpc>
                <a:spcPts val="3888"/>
              </a:lnSpc>
            </a:pPr>
            <a:r>
              <a:rPr lang="en-US" sz="3600" dirty="0">
                <a:solidFill>
                  <a:srgbClr val="000000"/>
                </a:solidFill>
                <a:latin typeface="Arial" panose="020B0604020202020204" pitchFamily="34" charset="0"/>
                <a:ea typeface="Canva Sans"/>
                <a:cs typeface="Arial" panose="020B0604020202020204" pitchFamily="34" charset="0"/>
                <a:sym typeface="Canva Sans"/>
              </a:rPr>
              <a:t>Student number: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43586"/>
            <a:ext cx="15773400" cy="1186294"/>
            <a:chOff x="0" y="0"/>
            <a:chExt cx="21031200" cy="1581725"/>
          </a:xfrm>
        </p:grpSpPr>
        <p:sp>
          <p:nvSpPr>
            <p:cNvPr id="3" name="Freeform 3"/>
            <p:cNvSpPr/>
            <p:nvPr/>
          </p:nvSpPr>
          <p:spPr>
            <a:xfrm>
              <a:off x="0" y="0"/>
              <a:ext cx="21031200" cy="1581725"/>
            </a:xfrm>
            <a:custGeom>
              <a:avLst/>
              <a:gdLst/>
              <a:ahLst/>
              <a:cxnLst/>
              <a:rect l="l" t="t" r="r" b="b"/>
              <a:pathLst>
                <a:path w="21031200" h="1581725">
                  <a:moveTo>
                    <a:pt x="0" y="0"/>
                  </a:moveTo>
                  <a:lnTo>
                    <a:pt x="21031200" y="0"/>
                  </a:lnTo>
                  <a:lnTo>
                    <a:pt x="21031200" y="1581725"/>
                  </a:lnTo>
                  <a:lnTo>
                    <a:pt x="0" y="1581725"/>
                  </a:lnTo>
                  <a:close/>
                </a:path>
              </a:pathLst>
            </a:custGeom>
            <a:blipFill>
              <a:blip r:embed="rId3">
                <a:alphaModFix amt="0"/>
              </a:blip>
              <a:stretch>
                <a:fillRect t="-228569" b="-189591"/>
              </a:stretch>
            </a:blipFill>
          </p:spPr>
          <p:txBody>
            <a:bodyPr/>
            <a:lstStyle/>
            <a:p>
              <a:endParaRPr lang="en-IN" sz="2500" dirty="0">
                <a:latin typeface="Arial" panose="020B0604020202020204" pitchFamily="34" charset="0"/>
                <a:cs typeface="Arial" panose="020B0604020202020204" pitchFamily="34" charset="0"/>
              </a:endParaRPr>
            </a:p>
          </p:txBody>
        </p:sp>
        <p:sp>
          <p:nvSpPr>
            <p:cNvPr id="4" name="TextBox 4"/>
            <p:cNvSpPr txBox="1"/>
            <p:nvPr/>
          </p:nvSpPr>
          <p:spPr>
            <a:xfrm>
              <a:off x="0" y="76200"/>
              <a:ext cx="21031200" cy="1505525"/>
            </a:xfrm>
            <a:prstGeom prst="rect">
              <a:avLst/>
            </a:prstGeom>
          </p:spPr>
          <p:txBody>
            <a:bodyPr lIns="0" tIns="0" rIns="0" bIns="0" rtlCol="0" anchor="ctr"/>
            <a:lstStyle/>
            <a:p>
              <a:pPr algn="ctr">
                <a:lnSpc>
                  <a:spcPts val="6480"/>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Introduction</a:t>
              </a:r>
            </a:p>
          </p:txBody>
        </p:sp>
      </p:grpSp>
      <p:sp>
        <p:nvSpPr>
          <p:cNvPr id="5" name="TextBox 5"/>
          <p:cNvSpPr txBox="1"/>
          <p:nvPr/>
        </p:nvSpPr>
        <p:spPr>
          <a:xfrm>
            <a:off x="435403" y="1651754"/>
            <a:ext cx="16698439" cy="2326855"/>
          </a:xfrm>
          <a:prstGeom prst="rect">
            <a:avLst/>
          </a:prstGeom>
        </p:spPr>
        <p:txBody>
          <a:bodyPr lIns="0" tIns="0" rIns="0" bIns="0" rtlCol="0" anchor="t">
            <a:spAutoFit/>
          </a:bodyPr>
          <a:lstStyle/>
          <a:p>
            <a:pPr algn="just">
              <a:lnSpc>
                <a:spcPts val="374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Statement of problem: </a:t>
            </a:r>
            <a:r>
              <a:rPr lang="en-US" sz="2500" b="0" i="0" dirty="0">
                <a:effectLst/>
                <a:latin typeface="Arial" panose="020B0604020202020204" pitchFamily="34" charset="0"/>
                <a:cs typeface="Arial" panose="020B0604020202020204" pitchFamily="34" charset="0"/>
              </a:rPr>
              <a:t>The rapid rise in digital financial transactions has led to a surge in fraudulent activities, and existing fraud detection methods lack scalability, real-time fraud prevention, and efficiency with large-scale data, creating a need for scalable fraud detection using big data technologies like </a:t>
            </a:r>
            <a:r>
              <a:rPr lang="en-US" sz="2500" b="0" i="0" dirty="0" err="1">
                <a:effectLst/>
                <a:latin typeface="Arial" panose="020B0604020202020204" pitchFamily="34" charset="0"/>
                <a:cs typeface="Arial" panose="020B0604020202020204" pitchFamily="34" charset="0"/>
              </a:rPr>
              <a:t>PySpark</a:t>
            </a:r>
            <a:r>
              <a:rPr lang="en-US" sz="2500" b="0" i="0" dirty="0">
                <a:effectLst/>
                <a:latin typeface="Arial" panose="020B0604020202020204" pitchFamily="34" charset="0"/>
                <a:cs typeface="Arial" panose="020B0604020202020204" pitchFamily="34" charset="0"/>
              </a:rPr>
              <a:t>. This study aims to bridge the gap in scalable machine learning solutions with </a:t>
            </a:r>
            <a:r>
              <a:rPr lang="en-US" sz="2500" b="0" i="0" dirty="0" err="1">
                <a:effectLst/>
                <a:latin typeface="Arial" panose="020B0604020202020204" pitchFamily="34" charset="0"/>
                <a:cs typeface="Arial" panose="020B0604020202020204" pitchFamily="34" charset="0"/>
              </a:rPr>
              <a:t>PySpark</a:t>
            </a:r>
            <a:r>
              <a:rPr lang="en-US" sz="2500" b="0" i="0" dirty="0">
                <a:effectLst/>
                <a:latin typeface="Arial" panose="020B0604020202020204" pitchFamily="34" charset="0"/>
                <a:cs typeface="Arial" panose="020B0604020202020204" pitchFamily="34" charset="0"/>
              </a:rPr>
              <a:t> for effective fraud detection and financial security</a:t>
            </a:r>
            <a:r>
              <a:rPr lang="en-US" sz="2500" dirty="0">
                <a:latin typeface="Arial" panose="020B0604020202020204" pitchFamily="34" charset="0"/>
                <a:cs typeface="Arial" panose="020B0604020202020204" pitchFamily="34" charset="0"/>
              </a:rPr>
              <a:t> </a:t>
            </a:r>
            <a:r>
              <a:rPr lang="en-US" sz="2500" dirty="0">
                <a:solidFill>
                  <a:srgbClr val="000000"/>
                </a:solidFill>
                <a:latin typeface="Arial" panose="020B0604020202020204" pitchFamily="34" charset="0"/>
                <a:ea typeface="Canva Sans"/>
                <a:cs typeface="Arial" panose="020B0604020202020204" pitchFamily="34" charset="0"/>
                <a:sym typeface="Canva Sans"/>
              </a:rPr>
              <a:t>(Bello &amp; Olufemi, 2024).</a:t>
            </a:r>
          </a:p>
        </p:txBody>
      </p:sp>
      <p:sp>
        <p:nvSpPr>
          <p:cNvPr id="6" name="TextBox 6"/>
          <p:cNvSpPr txBox="1"/>
          <p:nvPr/>
        </p:nvSpPr>
        <p:spPr>
          <a:xfrm>
            <a:off x="423695" y="4232632"/>
            <a:ext cx="16955329" cy="1860574"/>
          </a:xfrm>
          <a:prstGeom prst="rect">
            <a:avLst/>
          </a:prstGeom>
        </p:spPr>
        <p:txBody>
          <a:bodyPr lIns="0" tIns="0" rIns="0" bIns="0" rtlCol="0" anchor="t">
            <a:spAutoFit/>
          </a:bodyPr>
          <a:lstStyle/>
          <a:p>
            <a:pPr algn="just">
              <a:lnSpc>
                <a:spcPts val="374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Background and Rationale: </a:t>
            </a:r>
            <a:r>
              <a:rPr lang="en-US" sz="2500" dirty="0">
                <a:latin typeface="Arial" panose="020B0604020202020204" pitchFamily="34" charset="0"/>
                <a:cs typeface="Arial" panose="020B0604020202020204" pitchFamily="34" charset="0"/>
              </a:rPr>
              <a:t>The increasing use of online payment systems and online banking has led to a growing amount of financial data and the potential for fraud in recent years. While existing fraud detection methods may not be able to handle big data effectively and may not capture sophisticated fraud patterns in real time, there is a pressing need for scalable machine learning models using big data technologies like </a:t>
            </a:r>
            <a:r>
              <a:rPr lang="en-US" sz="2500" dirty="0" err="1">
                <a:latin typeface="Arial" panose="020B0604020202020204" pitchFamily="34" charset="0"/>
                <a:cs typeface="Arial" panose="020B0604020202020204" pitchFamily="34" charset="0"/>
              </a:rPr>
              <a:t>PySpark</a:t>
            </a:r>
            <a:r>
              <a:rPr lang="en-US" sz="2500" dirty="0">
                <a:latin typeface="Arial" panose="020B0604020202020204" pitchFamily="34" charset="0"/>
                <a:cs typeface="Arial" panose="020B0604020202020204" pitchFamily="34" charset="0"/>
              </a:rPr>
              <a:t> (Cheng, 2025).</a:t>
            </a:r>
          </a:p>
        </p:txBody>
      </p:sp>
      <p:sp>
        <p:nvSpPr>
          <p:cNvPr id="7" name="TextBox 7"/>
          <p:cNvSpPr txBox="1"/>
          <p:nvPr/>
        </p:nvSpPr>
        <p:spPr>
          <a:xfrm>
            <a:off x="423695" y="6263989"/>
            <a:ext cx="10994597" cy="428900"/>
          </a:xfrm>
          <a:prstGeom prst="rect">
            <a:avLst/>
          </a:prstGeom>
        </p:spPr>
        <p:txBody>
          <a:bodyPr wrap="square" lIns="0" tIns="0" rIns="0" bIns="0" rtlCol="0" anchor="t">
            <a:spAutoFit/>
          </a:bodyPr>
          <a:lstStyle/>
          <a:p>
            <a:pPr algn="l">
              <a:lnSpc>
                <a:spcPts val="374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Gaps in current knowledge &amp; core issues</a:t>
            </a:r>
          </a:p>
        </p:txBody>
      </p:sp>
      <p:sp>
        <p:nvSpPr>
          <p:cNvPr id="8" name="TextBox 8"/>
          <p:cNvSpPr txBox="1"/>
          <p:nvPr/>
        </p:nvSpPr>
        <p:spPr>
          <a:xfrm>
            <a:off x="451879" y="8705139"/>
            <a:ext cx="13376948" cy="1381125"/>
          </a:xfrm>
          <a:prstGeom prst="rect">
            <a:avLst/>
          </a:prstGeom>
        </p:spPr>
        <p:txBody>
          <a:bodyPr lIns="0" tIns="0" rIns="0" bIns="0" rtlCol="0" anchor="t">
            <a:spAutoFit/>
          </a:bodyPr>
          <a:lstStyle/>
          <a:p>
            <a:pPr algn="l">
              <a:lnSpc>
                <a:spcPts val="374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Possible applications </a:t>
            </a:r>
          </a:p>
          <a:p>
            <a:pPr marL="452437" lvl="1" indent="-226219" algn="l">
              <a:lnSpc>
                <a:spcPts val="3749"/>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Banking fraud monitoring systems.</a:t>
            </a:r>
          </a:p>
          <a:p>
            <a:pPr marL="452437" lvl="1" indent="-226219" algn="l">
              <a:lnSpc>
                <a:spcPts val="3749"/>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Safe online payment systems.</a:t>
            </a:r>
          </a:p>
        </p:txBody>
      </p:sp>
      <p:sp>
        <p:nvSpPr>
          <p:cNvPr id="11" name="Rectangle 3">
            <a:extLst>
              <a:ext uri="{FF2B5EF4-FFF2-40B4-BE49-F238E27FC236}">
                <a16:creationId xmlns:a16="http://schemas.microsoft.com/office/drawing/2014/main" id="{4B0A667B-2FE4-C841-2FDA-B6D2172E206F}"/>
              </a:ext>
            </a:extLst>
          </p:cNvPr>
          <p:cNvSpPr>
            <a:spLocks noChangeArrowheads="1"/>
          </p:cNvSpPr>
          <p:nvPr/>
        </p:nvSpPr>
        <p:spPr bwMode="auto">
          <a:xfrm>
            <a:off x="423695" y="6819900"/>
            <a:ext cx="1777639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Limited research on scalable fraud detection using distributed big data technologies. </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Imbalanced fraud datasets reduce machine learning prediction performance. </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Existing models focus more on accuracy than processing efficiency and scalability. </a:t>
            </a:r>
          </a:p>
          <a:p>
            <a:pPr marL="457200" indent="-457200">
              <a:buFont typeface="Arial" panose="020B0604020202020204" pitchFamily="34" charset="0"/>
              <a:buChar char="•"/>
            </a:pPr>
            <a:r>
              <a:rPr lang="en-US" sz="2500" dirty="0">
                <a:latin typeface="Arial" panose="020B0604020202020204" pitchFamily="34" charset="0"/>
                <a:cs typeface="Arial" panose="020B0604020202020204" pitchFamily="34" charset="0"/>
              </a:rPr>
              <a:t>Limited comparison of </a:t>
            </a:r>
            <a:r>
              <a:rPr lang="en-US" sz="2500" dirty="0" err="1">
                <a:latin typeface="Arial" panose="020B0604020202020204" pitchFamily="34" charset="0"/>
                <a:cs typeface="Arial" panose="020B0604020202020204" pitchFamily="34" charset="0"/>
              </a:rPr>
              <a:t>PySpark</a:t>
            </a:r>
            <a:r>
              <a:rPr lang="en-US" sz="2500" dirty="0">
                <a:latin typeface="Arial" panose="020B0604020202020204" pitchFamily="34" charset="0"/>
                <a:cs typeface="Arial" panose="020B0604020202020204" pitchFamily="34" charset="0"/>
              </a:rPr>
              <a:t>-based machine learning fraud detection models.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6293" y="495403"/>
            <a:ext cx="15773400" cy="1360870"/>
            <a:chOff x="0" y="0"/>
            <a:chExt cx="21031200" cy="1814494"/>
          </a:xfrm>
        </p:grpSpPr>
        <p:sp>
          <p:nvSpPr>
            <p:cNvPr id="3" name="Freeform 3"/>
            <p:cNvSpPr/>
            <p:nvPr/>
          </p:nvSpPr>
          <p:spPr>
            <a:xfrm>
              <a:off x="0" y="0"/>
              <a:ext cx="21031200" cy="1605537"/>
            </a:xfrm>
            <a:custGeom>
              <a:avLst/>
              <a:gdLst/>
              <a:ahLst/>
              <a:cxnLst/>
              <a:rect l="l" t="t" r="r" b="b"/>
              <a:pathLst>
                <a:path w="21031200" h="1605537">
                  <a:moveTo>
                    <a:pt x="0" y="0"/>
                  </a:moveTo>
                  <a:lnTo>
                    <a:pt x="21031200" y="0"/>
                  </a:lnTo>
                  <a:lnTo>
                    <a:pt x="21031200" y="1605537"/>
                  </a:lnTo>
                  <a:lnTo>
                    <a:pt x="0" y="1605537"/>
                  </a:lnTo>
                  <a:close/>
                </a:path>
              </a:pathLst>
            </a:custGeom>
            <a:blipFill>
              <a:blip r:embed="rId3">
                <a:alphaModFix amt="0"/>
              </a:blip>
              <a:stretch>
                <a:fillRect t="-205237" b="-205238"/>
              </a:stretch>
            </a:blipFill>
          </p:spPr>
          <p:txBody>
            <a:bodyPr/>
            <a:lstStyle/>
            <a:p>
              <a:pPr>
                <a:lnSpc>
                  <a:spcPct val="150000"/>
                </a:lnSpc>
              </a:pPr>
              <a:endParaRPr lang="en-IN" sz="2500">
                <a:latin typeface="Arial" panose="020B0604020202020204" pitchFamily="34" charset="0"/>
                <a:cs typeface="Arial" panose="020B0604020202020204" pitchFamily="34" charset="0"/>
              </a:endParaRPr>
            </a:p>
          </p:txBody>
        </p:sp>
        <p:sp>
          <p:nvSpPr>
            <p:cNvPr id="4" name="TextBox 4"/>
            <p:cNvSpPr txBox="1"/>
            <p:nvPr/>
          </p:nvSpPr>
          <p:spPr>
            <a:xfrm>
              <a:off x="0" y="132752"/>
              <a:ext cx="21031200" cy="1681742"/>
            </a:xfrm>
            <a:prstGeom prst="rect">
              <a:avLst/>
            </a:prstGeom>
          </p:spPr>
          <p:txBody>
            <a:bodyPr lIns="0" tIns="0" rIns="0" bIns="0" rtlCol="0" anchor="ctr"/>
            <a:lstStyle/>
            <a:p>
              <a:pPr>
                <a:lnSpc>
                  <a:spcPct val="1500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Research question: </a:t>
              </a:r>
              <a:r>
                <a:rPr lang="en-US" sz="2500" dirty="0">
                  <a:latin typeface="Arial" panose="020B0604020202020204" pitchFamily="34" charset="0"/>
                  <a:cs typeface="Arial" panose="020B0604020202020204" pitchFamily="34" charset="0"/>
                </a:rPr>
                <a:t>How can </a:t>
              </a:r>
              <a:r>
                <a:rPr lang="en-US" sz="2500" dirty="0" err="1">
                  <a:latin typeface="Arial" panose="020B0604020202020204" pitchFamily="34" charset="0"/>
                  <a:cs typeface="Arial" panose="020B0604020202020204" pitchFamily="34" charset="0"/>
                </a:rPr>
                <a:t>PySpark</a:t>
              </a:r>
              <a:r>
                <a:rPr lang="en-US" sz="2500" dirty="0">
                  <a:latin typeface="Arial" panose="020B0604020202020204" pitchFamily="34" charset="0"/>
                  <a:cs typeface="Arial" panose="020B0604020202020204" pitchFamily="34" charset="0"/>
                </a:rPr>
                <a:t>-based machine learning models be </a:t>
              </a:r>
              <a:r>
                <a:rPr lang="en-US" sz="2500" dirty="0" err="1">
                  <a:latin typeface="Arial" panose="020B0604020202020204" pitchFamily="34" charset="0"/>
                  <a:cs typeface="Arial" panose="020B0604020202020204" pitchFamily="34" charset="0"/>
                </a:rPr>
                <a:t>optimised</a:t>
              </a:r>
              <a:r>
                <a:rPr lang="en-US" sz="2500" dirty="0">
                  <a:latin typeface="Arial" panose="020B0604020202020204" pitchFamily="34" charset="0"/>
                  <a:cs typeface="Arial" panose="020B0604020202020204" pitchFamily="34" charset="0"/>
                </a:rPr>
                <a:t> to deliver scalable, accurate, and computationally efficient fraud detection for large-scale financial transaction data?</a:t>
              </a:r>
            </a:p>
            <a:p>
              <a:pPr algn="l">
                <a:lnSpc>
                  <a:spcPct val="150000"/>
                </a:lnSpc>
              </a:pPr>
              <a:endParaRPr lang="en-US" sz="2500" dirty="0">
                <a:solidFill>
                  <a:srgbClr val="000000"/>
                </a:solidFill>
                <a:latin typeface="Arial" panose="020B0604020202020204" pitchFamily="34" charset="0"/>
                <a:ea typeface="Canva Sans"/>
                <a:cs typeface="Arial" panose="020B0604020202020204" pitchFamily="34" charset="0"/>
                <a:sym typeface="Canva Sans"/>
              </a:endParaRPr>
            </a:p>
          </p:txBody>
        </p:sp>
      </p:grpSp>
      <p:sp>
        <p:nvSpPr>
          <p:cNvPr id="5" name="TextBox 5"/>
          <p:cNvSpPr txBox="1"/>
          <p:nvPr/>
        </p:nvSpPr>
        <p:spPr>
          <a:xfrm>
            <a:off x="896293" y="1718440"/>
            <a:ext cx="16172508" cy="1094530"/>
          </a:xfrm>
          <a:prstGeom prst="rect">
            <a:avLst/>
          </a:prstGeom>
        </p:spPr>
        <p:txBody>
          <a:bodyPr wrap="square" lIns="0" tIns="0" rIns="0" bIns="0" rtlCol="0" anchor="t">
            <a:spAutoFit/>
          </a:bodyPr>
          <a:lstStyle/>
          <a:p>
            <a:pPr>
              <a:lnSpc>
                <a:spcPct val="1500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Research aim: </a:t>
            </a:r>
            <a:r>
              <a:rPr lang="en-US" sz="2500" dirty="0">
                <a:latin typeface="Arial" panose="020B0604020202020204" pitchFamily="34" charset="0"/>
                <a:cs typeface="Arial" panose="020B0604020202020204" pitchFamily="34" charset="0"/>
              </a:rPr>
              <a:t>To develop and evaluate a scalable and efficient fraud detection framework using </a:t>
            </a:r>
            <a:r>
              <a:rPr lang="en-US" sz="2500" dirty="0" err="1">
                <a:latin typeface="Arial" panose="020B0604020202020204" pitchFamily="34" charset="0"/>
                <a:cs typeface="Arial" panose="020B0604020202020204" pitchFamily="34" charset="0"/>
              </a:rPr>
              <a:t>PySpark</a:t>
            </a:r>
            <a:r>
              <a:rPr lang="en-US" sz="2500" dirty="0">
                <a:latin typeface="Arial" panose="020B0604020202020204" pitchFamily="34" charset="0"/>
                <a:cs typeface="Arial" panose="020B0604020202020204" pitchFamily="34" charset="0"/>
              </a:rPr>
              <a:t>-based machine learning models for </a:t>
            </a:r>
            <a:r>
              <a:rPr lang="en-US" sz="2500" dirty="0" err="1">
                <a:latin typeface="Arial" panose="020B0604020202020204" pitchFamily="34" charset="0"/>
                <a:cs typeface="Arial" panose="020B0604020202020204" pitchFamily="34" charset="0"/>
              </a:rPr>
              <a:t>analysing</a:t>
            </a:r>
            <a:r>
              <a:rPr lang="en-US" sz="2500" dirty="0">
                <a:latin typeface="Arial" panose="020B0604020202020204" pitchFamily="34" charset="0"/>
                <a:cs typeface="Arial" panose="020B0604020202020204" pitchFamily="34" charset="0"/>
              </a:rPr>
              <a:t> large-scale financial transaction data in real-time environments.</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p:txBody>
      </p:sp>
      <p:sp>
        <p:nvSpPr>
          <p:cNvPr id="6" name="TextBox 6"/>
          <p:cNvSpPr txBox="1"/>
          <p:nvPr/>
        </p:nvSpPr>
        <p:spPr>
          <a:xfrm>
            <a:off x="917170" y="2965512"/>
            <a:ext cx="15773400" cy="517449"/>
          </a:xfrm>
          <a:prstGeom prst="rect">
            <a:avLst/>
          </a:prstGeom>
        </p:spPr>
        <p:txBody>
          <a:bodyPr wrap="square" lIns="0" tIns="0" rIns="0" bIns="0" rtlCol="0" anchor="t">
            <a:spAutoFit/>
          </a:bodyPr>
          <a:lstStyle/>
          <a:p>
            <a:pPr algn="l">
              <a:lnSpc>
                <a:spcPct val="1500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Research objectives</a:t>
            </a:r>
          </a:p>
        </p:txBody>
      </p:sp>
      <p:sp>
        <p:nvSpPr>
          <p:cNvPr id="7" name="TextBox 7"/>
          <p:cNvSpPr txBox="1"/>
          <p:nvPr/>
        </p:nvSpPr>
        <p:spPr>
          <a:xfrm>
            <a:off x="896292" y="7618183"/>
            <a:ext cx="15681960" cy="1094530"/>
          </a:xfrm>
          <a:prstGeom prst="rect">
            <a:avLst/>
          </a:prstGeom>
        </p:spPr>
        <p:txBody>
          <a:bodyPr lIns="0" tIns="0" rIns="0" bIns="0" rtlCol="0" anchor="t">
            <a:spAutoFit/>
          </a:bodyPr>
          <a:lstStyle/>
          <a:p>
            <a:pPr algn="l">
              <a:lnSpc>
                <a:spcPct val="1500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Deliverable: </a:t>
            </a:r>
            <a:r>
              <a:rPr lang="en-US" sz="2500" dirty="0">
                <a:solidFill>
                  <a:srgbClr val="000000"/>
                </a:solidFill>
                <a:latin typeface="Arial" panose="020B0604020202020204" pitchFamily="34" charset="0"/>
                <a:ea typeface="Canva Sans"/>
                <a:cs typeface="Arial" panose="020B0604020202020204" pitchFamily="34" charset="0"/>
                <a:sym typeface="Canva Sans"/>
              </a:rPr>
              <a:t>A scalable fraud detection analytics developed using </a:t>
            </a:r>
            <a:r>
              <a:rPr lang="en-US" sz="2500" dirty="0" err="1">
                <a:solidFill>
                  <a:srgbClr val="000000"/>
                </a:solidFill>
                <a:latin typeface="Arial" panose="020B0604020202020204" pitchFamily="34" charset="0"/>
                <a:ea typeface="Canva Sans"/>
                <a:cs typeface="Arial" panose="020B0604020202020204" pitchFamily="34" charset="0"/>
                <a:sym typeface="Canva Sans"/>
              </a:rPr>
              <a:t>PySpark</a:t>
            </a:r>
            <a:r>
              <a:rPr lang="en-US" sz="2500" dirty="0">
                <a:solidFill>
                  <a:srgbClr val="000000"/>
                </a:solidFill>
                <a:latin typeface="Arial" panose="020B0604020202020204" pitchFamily="34" charset="0"/>
                <a:ea typeface="Canva Sans"/>
                <a:cs typeface="Arial" panose="020B0604020202020204" pitchFamily="34" charset="0"/>
                <a:sym typeface="Canva Sans"/>
              </a:rPr>
              <a:t> ML pipelines for </a:t>
            </a:r>
            <a:r>
              <a:rPr lang="en-US" sz="2500" dirty="0" err="1">
                <a:solidFill>
                  <a:srgbClr val="000000"/>
                </a:solidFill>
                <a:latin typeface="Arial" panose="020B0604020202020204" pitchFamily="34" charset="0"/>
                <a:ea typeface="Canva Sans"/>
                <a:cs typeface="Arial" panose="020B0604020202020204" pitchFamily="34" charset="0"/>
                <a:sym typeface="Canva Sans"/>
              </a:rPr>
              <a:t>analysing</a:t>
            </a:r>
            <a:r>
              <a:rPr lang="en-US" sz="2500" dirty="0">
                <a:solidFill>
                  <a:srgbClr val="000000"/>
                </a:solidFill>
                <a:latin typeface="Arial" panose="020B0604020202020204" pitchFamily="34" charset="0"/>
                <a:ea typeface="Canva Sans"/>
                <a:cs typeface="Arial" panose="020B0604020202020204" pitchFamily="34" charset="0"/>
                <a:sym typeface="Canva Sans"/>
              </a:rPr>
              <a:t> large-scale financial transactions.</a:t>
            </a:r>
          </a:p>
        </p:txBody>
      </p:sp>
      <p:sp>
        <p:nvSpPr>
          <p:cNvPr id="8" name="TextBox 8"/>
          <p:cNvSpPr txBox="1"/>
          <p:nvPr/>
        </p:nvSpPr>
        <p:spPr>
          <a:xfrm>
            <a:off x="896292" y="8877300"/>
            <a:ext cx="16018297" cy="1094530"/>
          </a:xfrm>
          <a:prstGeom prst="rect">
            <a:avLst/>
          </a:prstGeom>
        </p:spPr>
        <p:txBody>
          <a:bodyPr lIns="0" tIns="0" rIns="0" bIns="0" rtlCol="0" anchor="t">
            <a:spAutoFit/>
          </a:bodyPr>
          <a:lstStyle/>
          <a:p>
            <a:pPr algn="l">
              <a:lnSpc>
                <a:spcPct val="1500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Beneficiaries: </a:t>
            </a:r>
            <a:r>
              <a:rPr lang="en-US" sz="2500" dirty="0">
                <a:solidFill>
                  <a:srgbClr val="000000"/>
                </a:solidFill>
                <a:latin typeface="Arial" panose="020B0604020202020204" pitchFamily="34" charset="0"/>
                <a:ea typeface="Canva Sans"/>
                <a:cs typeface="Arial" panose="020B0604020202020204" pitchFamily="34" charset="0"/>
                <a:sym typeface="Canva Sans"/>
              </a:rPr>
              <a:t>Banks, FinTech companies, cybersecurity analysts, and online payment platforms will benefit from improved fraud detection accuracy, faster transaction monitoring, and enhanced financial security.</a:t>
            </a:r>
          </a:p>
        </p:txBody>
      </p:sp>
      <p:sp>
        <p:nvSpPr>
          <p:cNvPr id="10" name="Rectangle 2">
            <a:extLst>
              <a:ext uri="{FF2B5EF4-FFF2-40B4-BE49-F238E27FC236}">
                <a16:creationId xmlns:a16="http://schemas.microsoft.com/office/drawing/2014/main" id="{652C4D17-CBD3-944E-5AC9-8B761BE96716}"/>
              </a:ext>
            </a:extLst>
          </p:cNvPr>
          <p:cNvSpPr>
            <a:spLocks noChangeArrowheads="1"/>
          </p:cNvSpPr>
          <p:nvPr/>
        </p:nvSpPr>
        <p:spPr bwMode="auto">
          <a:xfrm>
            <a:off x="738635" y="3413368"/>
            <a:ext cx="16632195" cy="40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preprocess and </a:t>
            </a:r>
            <a:r>
              <a:rPr kumimoji="0" lang="en-US" altLang="en-US" sz="25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optimise</a:t>
            </a: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fraud detection dataset using </a:t>
            </a:r>
            <a:r>
              <a:rPr kumimoji="0" lang="en-US" altLang="en-US" sz="25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PySpark</a:t>
            </a: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scalable big data fraud analysis.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develop and compare </a:t>
            </a:r>
            <a:r>
              <a:rPr kumimoji="0" lang="en-US" altLang="en-US" sz="25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PySpark</a:t>
            </a: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-based Logistic Regression, Random Forest, and Gradient Boosted Trees models for fraud detection.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evaluate fraud detection performance using precision, recall, F1-score, ROC-AUC, and confusion matrix metrics.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analyze the scalability, processing efficiency, and real-time performance of machine learning models on large-scale financial transaction data.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0"/>
            <a:ext cx="15773400" cy="1190104"/>
            <a:chOff x="0" y="0"/>
            <a:chExt cx="21031200" cy="1586805"/>
          </a:xfrm>
        </p:grpSpPr>
        <p:sp>
          <p:nvSpPr>
            <p:cNvPr id="3" name="Freeform 3"/>
            <p:cNvSpPr/>
            <p:nvPr/>
          </p:nvSpPr>
          <p:spPr>
            <a:xfrm>
              <a:off x="0" y="0"/>
              <a:ext cx="21031200" cy="1586796"/>
            </a:xfrm>
            <a:custGeom>
              <a:avLst/>
              <a:gdLst/>
              <a:ahLst/>
              <a:cxnLst/>
              <a:rect l="l" t="t" r="r" b="b"/>
              <a:pathLst>
                <a:path w="21031200" h="1586796">
                  <a:moveTo>
                    <a:pt x="0" y="0"/>
                  </a:moveTo>
                  <a:lnTo>
                    <a:pt x="21031200" y="0"/>
                  </a:lnTo>
                  <a:lnTo>
                    <a:pt x="21031200" y="1586796"/>
                  </a:lnTo>
                  <a:lnTo>
                    <a:pt x="0" y="1586796"/>
                  </a:lnTo>
                  <a:close/>
                </a:path>
              </a:pathLst>
            </a:custGeom>
            <a:blipFill>
              <a:blip r:embed="rId3">
                <a:alphaModFix amt="0"/>
              </a:blip>
              <a:stretch>
                <a:fillRect t="-224777" b="-191726"/>
              </a:stretch>
            </a:blipFill>
          </p:spPr>
          <p:txBody>
            <a:bodyPr/>
            <a:lstStyle/>
            <a:p>
              <a:endParaRPr lang="en-IN">
                <a:latin typeface="Arial" panose="020B0604020202020204" pitchFamily="34" charset="0"/>
                <a:cs typeface="Arial" panose="020B0604020202020204" pitchFamily="34" charset="0"/>
              </a:endParaRPr>
            </a:p>
          </p:txBody>
        </p:sp>
        <p:sp>
          <p:nvSpPr>
            <p:cNvPr id="4" name="TextBox 4"/>
            <p:cNvSpPr txBox="1"/>
            <p:nvPr/>
          </p:nvSpPr>
          <p:spPr>
            <a:xfrm>
              <a:off x="0" y="-171450"/>
              <a:ext cx="21031200" cy="1758255"/>
            </a:xfrm>
            <a:prstGeom prst="rect">
              <a:avLst/>
            </a:prstGeom>
          </p:spPr>
          <p:txBody>
            <a:bodyPr lIns="0" tIns="0" rIns="0" bIns="0" rtlCol="0" anchor="ctr"/>
            <a:lstStyle/>
            <a:p>
              <a:pPr algn="ctr">
                <a:lnSpc>
                  <a:spcPts val="9000"/>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Findings of the literature review</a:t>
              </a:r>
            </a:p>
          </p:txBody>
        </p:sp>
      </p:grpSp>
      <p:sp>
        <p:nvSpPr>
          <p:cNvPr id="5" name="TextBox 5"/>
          <p:cNvSpPr txBox="1"/>
          <p:nvPr/>
        </p:nvSpPr>
        <p:spPr>
          <a:xfrm>
            <a:off x="228600" y="1190097"/>
            <a:ext cx="17678400" cy="2439129"/>
          </a:xfrm>
          <a:prstGeom prst="rect">
            <a:avLst/>
          </a:prstGeom>
        </p:spPr>
        <p:txBody>
          <a:bodyPr wrap="square" lIns="0" tIns="0" rIns="0" bIns="0" rtlCol="0" anchor="t">
            <a:spAutoFit/>
          </a:bodyPr>
          <a:lstStyle/>
          <a:p>
            <a:pPr>
              <a:lnSpc>
                <a:spcPts val="449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Theme 1: </a:t>
            </a:r>
            <a:r>
              <a:rPr lang="en-US" sz="2500" b="1" dirty="0">
                <a:latin typeface="Arial" panose="020B0604020202020204" pitchFamily="34" charset="0"/>
                <a:cs typeface="Arial" panose="020B0604020202020204" pitchFamily="34" charset="0"/>
              </a:rPr>
              <a:t>Machine Learning Models for Fraud Detection</a:t>
            </a:r>
            <a:endParaRPr lang="en-US" sz="2500" b="1" dirty="0">
              <a:solidFill>
                <a:srgbClr val="000000"/>
              </a:solidFill>
              <a:latin typeface="Arial" panose="020B0604020202020204" pitchFamily="34" charset="0"/>
              <a:ea typeface="Canva Sans Bold"/>
              <a:cs typeface="Arial" panose="020B0604020202020204" pitchFamily="34" charset="0"/>
              <a:sym typeface="Canva Sans Bold"/>
            </a:endParaRPr>
          </a:p>
          <a:p>
            <a:pPr marL="1079499" lvl="2" indent="-359833"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Finding 1 - Logistic Regression is widely used because it is simple, interpretable, and efficient for fraud classification tasks.</a:t>
            </a:r>
          </a:p>
          <a:p>
            <a:pPr marL="1079499" lvl="2" indent="-359833"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Finding 2 - Random Forest and Gradient Boosted Trees provide higher fraud detection accuracy by handling complex transaction patterns (Gupta et al., 2025).</a:t>
            </a:r>
          </a:p>
        </p:txBody>
      </p:sp>
      <p:sp>
        <p:nvSpPr>
          <p:cNvPr id="6" name="TextBox 6"/>
          <p:cNvSpPr txBox="1"/>
          <p:nvPr/>
        </p:nvSpPr>
        <p:spPr>
          <a:xfrm>
            <a:off x="228600" y="3662603"/>
            <a:ext cx="17830800" cy="2439129"/>
          </a:xfrm>
          <a:prstGeom prst="rect">
            <a:avLst/>
          </a:prstGeom>
        </p:spPr>
        <p:txBody>
          <a:bodyPr wrap="square" lIns="0" tIns="0" rIns="0" bIns="0" rtlCol="0" anchor="t">
            <a:spAutoFit/>
          </a:bodyPr>
          <a:lstStyle/>
          <a:p>
            <a:pPr>
              <a:lnSpc>
                <a:spcPts val="449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Theme 2: </a:t>
            </a:r>
            <a:r>
              <a:rPr lang="en-US" sz="2500" b="1" dirty="0">
                <a:latin typeface="Arial" panose="020B0604020202020204" pitchFamily="34" charset="0"/>
                <a:cs typeface="Arial" panose="020B0604020202020204" pitchFamily="34" charset="0"/>
              </a:rPr>
              <a:t>Big Data Technologies and Scalable Processing</a:t>
            </a:r>
            <a:endParaRPr lang="en-US" sz="2500" b="1" dirty="0">
              <a:solidFill>
                <a:srgbClr val="000000"/>
              </a:solidFill>
              <a:latin typeface="Arial" panose="020B0604020202020204" pitchFamily="34" charset="0"/>
              <a:ea typeface="Canva Sans Bold"/>
              <a:cs typeface="Arial" panose="020B0604020202020204" pitchFamily="34" charset="0"/>
              <a:sym typeface="Canva Sans Bold"/>
            </a:endParaRPr>
          </a:p>
          <a:p>
            <a:pPr marL="1079499" lvl="2" indent="-359833"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Finding 3 - </a:t>
            </a:r>
            <a:r>
              <a:rPr lang="en-US" sz="2499" dirty="0" err="1">
                <a:solidFill>
                  <a:srgbClr val="000000"/>
                </a:solidFill>
                <a:latin typeface="Arial" panose="020B0604020202020204" pitchFamily="34" charset="0"/>
                <a:ea typeface="Canva Sans"/>
                <a:cs typeface="Arial" panose="020B0604020202020204" pitchFamily="34" charset="0"/>
                <a:sym typeface="Canva Sans"/>
              </a:rPr>
              <a:t>PySpark</a:t>
            </a:r>
            <a:r>
              <a:rPr lang="en-US" sz="2499" dirty="0">
                <a:solidFill>
                  <a:srgbClr val="000000"/>
                </a:solidFill>
                <a:latin typeface="Arial" panose="020B0604020202020204" pitchFamily="34" charset="0"/>
                <a:ea typeface="Canva Sans"/>
                <a:cs typeface="Arial" panose="020B0604020202020204" pitchFamily="34" charset="0"/>
                <a:sym typeface="Canva Sans"/>
              </a:rPr>
              <a:t> enables distributed processing of large-scale financial datasets with improved computational efficiency.</a:t>
            </a:r>
          </a:p>
          <a:p>
            <a:pPr marL="1079499" lvl="2" indent="-359833"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Finding 4 - Spark ML pipelines support scalable model training and automated machine learning workflows (</a:t>
            </a:r>
            <a:r>
              <a:rPr lang="en-US" sz="2499" dirty="0" err="1">
                <a:solidFill>
                  <a:srgbClr val="000000"/>
                </a:solidFill>
                <a:latin typeface="Arial" panose="020B0604020202020204" pitchFamily="34" charset="0"/>
                <a:ea typeface="Canva Sans"/>
                <a:cs typeface="Arial" panose="020B0604020202020204" pitchFamily="34" charset="0"/>
                <a:sym typeface="Canva Sans"/>
              </a:rPr>
              <a:t>Hareram</a:t>
            </a:r>
            <a:r>
              <a:rPr lang="en-US" sz="2499" dirty="0">
                <a:solidFill>
                  <a:srgbClr val="000000"/>
                </a:solidFill>
                <a:latin typeface="Arial" panose="020B0604020202020204" pitchFamily="34" charset="0"/>
                <a:ea typeface="Canva Sans"/>
                <a:cs typeface="Arial" panose="020B0604020202020204" pitchFamily="34" charset="0"/>
                <a:sym typeface="Canva Sans"/>
              </a:rPr>
              <a:t>, 2025).</a:t>
            </a:r>
          </a:p>
        </p:txBody>
      </p:sp>
      <p:sp>
        <p:nvSpPr>
          <p:cNvPr id="7" name="TextBox 7"/>
          <p:cNvSpPr txBox="1"/>
          <p:nvPr/>
        </p:nvSpPr>
        <p:spPr>
          <a:xfrm>
            <a:off x="304800" y="6121636"/>
            <a:ext cx="17526000" cy="2439129"/>
          </a:xfrm>
          <a:prstGeom prst="rect">
            <a:avLst/>
          </a:prstGeom>
        </p:spPr>
        <p:txBody>
          <a:bodyPr wrap="square" lIns="0" tIns="0" rIns="0" bIns="0" rtlCol="0" anchor="t">
            <a:spAutoFit/>
          </a:bodyPr>
          <a:lstStyle/>
          <a:p>
            <a:pPr>
              <a:lnSpc>
                <a:spcPts val="4499"/>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Theme 3: </a:t>
            </a:r>
            <a:r>
              <a:rPr lang="en-US" sz="2500" b="1" dirty="0">
                <a:latin typeface="Arial" panose="020B0604020202020204" pitchFamily="34" charset="0"/>
                <a:cs typeface="Arial" panose="020B0604020202020204" pitchFamily="34" charset="0"/>
              </a:rPr>
              <a:t>Challenges and Research Gaps in Fraud Detection</a:t>
            </a:r>
            <a:endParaRPr lang="en-US" sz="2500" b="1" dirty="0">
              <a:solidFill>
                <a:srgbClr val="000000"/>
              </a:solidFill>
              <a:latin typeface="Arial" panose="020B0604020202020204" pitchFamily="34" charset="0"/>
              <a:ea typeface="Canva Sans Bold"/>
              <a:cs typeface="Arial" panose="020B0604020202020204" pitchFamily="34" charset="0"/>
              <a:sym typeface="Canva Sans Bold"/>
            </a:endParaRPr>
          </a:p>
          <a:p>
            <a:pPr marL="1079499" lvl="2" indent="-359833" algn="l">
              <a:lnSpc>
                <a:spcPts val="3749"/>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Finding 5 - Fraud datasets are highly imbalanced, causing lower recall and poor minority-class prediction performance.</a:t>
            </a:r>
          </a:p>
          <a:p>
            <a:pPr marL="1079499" lvl="2" indent="-359833" algn="l">
              <a:lnSpc>
                <a:spcPts val="3749"/>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Finding 6 - Many previous studies focus mainly on prediction accuracy while ignoring scalability and processing speed analysis (Owen et al., 2024).</a:t>
            </a:r>
          </a:p>
        </p:txBody>
      </p:sp>
      <p:sp>
        <p:nvSpPr>
          <p:cNvPr id="8" name="TextBox 8"/>
          <p:cNvSpPr txBox="1"/>
          <p:nvPr/>
        </p:nvSpPr>
        <p:spPr>
          <a:xfrm>
            <a:off x="304800" y="8667751"/>
            <a:ext cx="17983200" cy="1504949"/>
          </a:xfrm>
          <a:prstGeom prst="rect">
            <a:avLst/>
          </a:prstGeom>
        </p:spPr>
        <p:txBody>
          <a:bodyPr wrap="square" lIns="0" tIns="0" rIns="0" bIns="0" rtlCol="0" anchor="t">
            <a:spAutoFit/>
          </a:bodyPr>
          <a:lstStyle/>
          <a:p>
            <a:pPr algn="l">
              <a:lnSpc>
                <a:spcPts val="4500"/>
              </a:lnSpc>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Research Gap Addressed</a:t>
            </a: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This project addresses the lack of scalable fraud detection research by comparing distributed machine learning models using </a:t>
            </a:r>
            <a:r>
              <a:rPr lang="en-US" sz="2500" dirty="0" err="1">
                <a:solidFill>
                  <a:srgbClr val="000000"/>
                </a:solidFill>
                <a:latin typeface="Arial" panose="020B0604020202020204" pitchFamily="34" charset="0"/>
                <a:ea typeface="Canva Sans"/>
                <a:cs typeface="Arial" panose="020B0604020202020204" pitchFamily="34" charset="0"/>
                <a:sym typeface="Canva Sans"/>
              </a:rPr>
              <a:t>PySpark</a:t>
            </a:r>
            <a:r>
              <a:rPr lang="en-US" sz="2500" dirty="0">
                <a:solidFill>
                  <a:srgbClr val="000000"/>
                </a:solidFill>
                <a:latin typeface="Arial" panose="020B0604020202020204" pitchFamily="34" charset="0"/>
                <a:ea typeface="Canva Sans"/>
                <a:cs typeface="Arial" panose="020B0604020202020204" pitchFamily="34" charset="0"/>
                <a:sym typeface="Canva Sans"/>
              </a:rPr>
              <a:t> on large financial transaction datasets.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62185"/>
            <a:ext cx="18365748" cy="828495"/>
            <a:chOff x="0" y="8"/>
            <a:chExt cx="24487664" cy="1104660"/>
          </a:xfrm>
        </p:grpSpPr>
        <p:sp>
          <p:nvSpPr>
            <p:cNvPr id="3" name="Freeform 3"/>
            <p:cNvSpPr/>
            <p:nvPr/>
          </p:nvSpPr>
          <p:spPr>
            <a:xfrm>
              <a:off x="103664" y="8"/>
              <a:ext cx="24384000" cy="1104660"/>
            </a:xfrm>
            <a:custGeom>
              <a:avLst/>
              <a:gdLst/>
              <a:ahLst/>
              <a:cxnLst/>
              <a:rect l="l" t="t" r="r" b="b"/>
              <a:pathLst>
                <a:path w="24384000" h="1104660">
                  <a:moveTo>
                    <a:pt x="0" y="0"/>
                  </a:moveTo>
                  <a:lnTo>
                    <a:pt x="24384000" y="0"/>
                  </a:lnTo>
                  <a:lnTo>
                    <a:pt x="24384000" y="1104660"/>
                  </a:lnTo>
                  <a:lnTo>
                    <a:pt x="0" y="1104660"/>
                  </a:lnTo>
                  <a:close/>
                </a:path>
              </a:pathLst>
            </a:custGeom>
            <a:blipFill>
              <a:blip r:embed="rId3">
                <a:alphaModFix amt="0"/>
              </a:blip>
              <a:stretch>
                <a:fillRect t="-332718" r="13750" b="-309217"/>
              </a:stretch>
            </a:blipFill>
          </p:spPr>
          <p:txBody>
            <a:bodyPr/>
            <a:lstStyle/>
            <a:p>
              <a:endParaRPr lang="en-IN">
                <a:latin typeface="Arial" panose="020B0604020202020204" pitchFamily="34" charset="0"/>
                <a:cs typeface="Arial" panose="020B0604020202020204" pitchFamily="34" charset="0"/>
              </a:endParaRPr>
            </a:p>
          </p:txBody>
        </p:sp>
        <p:sp>
          <p:nvSpPr>
            <p:cNvPr id="4" name="TextBox 4"/>
            <p:cNvSpPr txBox="1"/>
            <p:nvPr/>
          </p:nvSpPr>
          <p:spPr>
            <a:xfrm>
              <a:off x="0" y="47625"/>
              <a:ext cx="24384000" cy="1057043"/>
            </a:xfrm>
            <a:prstGeom prst="rect">
              <a:avLst/>
            </a:prstGeom>
          </p:spPr>
          <p:txBody>
            <a:bodyPr lIns="0" tIns="0" rIns="0" bIns="0" rtlCol="0" anchor="ctr"/>
            <a:lstStyle/>
            <a:p>
              <a:pPr algn="ctr">
                <a:lnSpc>
                  <a:spcPts val="4536"/>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Methodology</a:t>
              </a:r>
            </a:p>
          </p:txBody>
        </p:sp>
      </p:grpSp>
      <p:sp>
        <p:nvSpPr>
          <p:cNvPr id="5" name="Freeform 5"/>
          <p:cNvSpPr/>
          <p:nvPr/>
        </p:nvSpPr>
        <p:spPr>
          <a:xfrm>
            <a:off x="12344400" y="6190001"/>
            <a:ext cx="5232207" cy="4096999"/>
          </a:xfrm>
          <a:custGeom>
            <a:avLst/>
            <a:gdLst/>
            <a:ahLst/>
            <a:cxnLst/>
            <a:rect l="l" t="t" r="r" b="b"/>
            <a:pathLst>
              <a:path w="5232207" h="4096999">
                <a:moveTo>
                  <a:pt x="0" y="0"/>
                </a:moveTo>
                <a:lnTo>
                  <a:pt x="5232207" y="0"/>
                </a:lnTo>
                <a:lnTo>
                  <a:pt x="5232207" y="4096999"/>
                </a:lnTo>
                <a:lnTo>
                  <a:pt x="0" y="4096999"/>
                </a:lnTo>
                <a:lnTo>
                  <a:pt x="0" y="0"/>
                </a:lnTo>
                <a:close/>
              </a:path>
            </a:pathLst>
          </a:custGeom>
          <a:blipFill>
            <a:blip r:embed="rId4"/>
            <a:stretch>
              <a:fillRect r="-4448"/>
            </a:stretch>
          </a:blipFill>
        </p:spPr>
        <p:txBody>
          <a:bodyPr/>
          <a:lstStyle/>
          <a:p>
            <a:endParaRPr lang="en-IN">
              <a:latin typeface="Arial" panose="020B0604020202020204" pitchFamily="34" charset="0"/>
              <a:cs typeface="Arial" panose="020B0604020202020204" pitchFamily="34" charset="0"/>
            </a:endParaRPr>
          </a:p>
        </p:txBody>
      </p:sp>
      <p:sp>
        <p:nvSpPr>
          <p:cNvPr id="6" name="TextBox 6"/>
          <p:cNvSpPr txBox="1"/>
          <p:nvPr/>
        </p:nvSpPr>
        <p:spPr>
          <a:xfrm>
            <a:off x="1000516" y="1448620"/>
            <a:ext cx="16386096" cy="4708981"/>
          </a:xfrm>
          <a:prstGeom prst="rect">
            <a:avLst/>
          </a:prstGeom>
        </p:spPr>
        <p:txBody>
          <a:bodyPr lIns="0" tIns="0" rIns="0" bIns="0" rtlCol="0" anchor="t">
            <a:spAutoFit/>
          </a:bodyPr>
          <a:lstStyle/>
          <a:p>
            <a:pPr marL="452437" lvl="1" indent="-226219" algn="just">
              <a:lnSpc>
                <a:spcPts val="3749"/>
              </a:lnSpc>
              <a:buFont typeface="Arial"/>
              <a:buChar char="•"/>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Research Philosophy: </a:t>
            </a:r>
            <a:r>
              <a:rPr lang="en-US" sz="2499" dirty="0">
                <a:solidFill>
                  <a:srgbClr val="000000"/>
                </a:solidFill>
                <a:latin typeface="Arial" panose="020B0604020202020204" pitchFamily="34" charset="0"/>
                <a:ea typeface="Canva Sans"/>
                <a:cs typeface="Arial" panose="020B0604020202020204" pitchFamily="34" charset="0"/>
                <a:sym typeface="Canva Sans"/>
              </a:rPr>
              <a:t>Positivist philosophy is selected because the research is based on measurable numerical data, statistical evaluation, and objective machine learning performance analysis.</a:t>
            </a:r>
          </a:p>
          <a:p>
            <a:pPr marL="452437" lvl="1" indent="-226219" algn="just">
              <a:lnSpc>
                <a:spcPts val="3749"/>
              </a:lnSpc>
              <a:buFont typeface="Arial"/>
              <a:buChar char="•"/>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Research Approach: </a:t>
            </a:r>
            <a:r>
              <a:rPr lang="en-US" sz="2499" dirty="0">
                <a:solidFill>
                  <a:srgbClr val="000000"/>
                </a:solidFill>
                <a:latin typeface="Arial" panose="020B0604020202020204" pitchFamily="34" charset="0"/>
                <a:ea typeface="Canva Sans"/>
                <a:cs typeface="Arial" panose="020B0604020202020204" pitchFamily="34" charset="0"/>
                <a:sym typeface="Canva Sans"/>
              </a:rPr>
              <a:t>An experimental approach is adopted to test existing fraud detection theories and machine learning techniques using the </a:t>
            </a:r>
            <a:r>
              <a:rPr lang="en-US" sz="2500" dirty="0">
                <a:latin typeface="Arial" panose="020B0604020202020204" pitchFamily="34" charset="0"/>
                <a:cs typeface="Arial" panose="020B0604020202020204" pitchFamily="34" charset="0"/>
              </a:rPr>
              <a:t>Synthetic Financial Datasets for Fraud Detection</a:t>
            </a:r>
            <a:r>
              <a:rPr lang="en-US" sz="2500" dirty="0">
                <a:solidFill>
                  <a:srgbClr val="000000"/>
                </a:solidFill>
                <a:latin typeface="Arial" panose="020B0604020202020204" pitchFamily="34" charset="0"/>
                <a:ea typeface="Canva Sans"/>
                <a:cs typeface="Arial" panose="020B0604020202020204" pitchFamily="34" charset="0"/>
                <a:sym typeface="Canva Sans"/>
              </a:rPr>
              <a:t> </a:t>
            </a:r>
            <a:r>
              <a:rPr lang="en-US" sz="2499" dirty="0">
                <a:solidFill>
                  <a:srgbClr val="000000"/>
                </a:solidFill>
                <a:latin typeface="Arial" panose="020B0604020202020204" pitchFamily="34" charset="0"/>
                <a:ea typeface="Canva Sans"/>
                <a:cs typeface="Arial" panose="020B0604020202020204" pitchFamily="34" charset="0"/>
                <a:sym typeface="Canva Sans"/>
              </a:rPr>
              <a:t>dataset.</a:t>
            </a:r>
          </a:p>
          <a:p>
            <a:pPr marL="452437" lvl="1" indent="-226219" algn="just">
              <a:lnSpc>
                <a:spcPts val="3749"/>
              </a:lnSpc>
              <a:buFont typeface="Arial"/>
              <a:buChar char="•"/>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Research Methods: </a:t>
            </a:r>
            <a:r>
              <a:rPr lang="en-US" sz="2499" dirty="0">
                <a:solidFill>
                  <a:srgbClr val="000000"/>
                </a:solidFill>
                <a:latin typeface="Arial" panose="020B0604020202020204" pitchFamily="34" charset="0"/>
                <a:ea typeface="Canva Sans"/>
                <a:cs typeface="Arial" panose="020B0604020202020204" pitchFamily="34" charset="0"/>
                <a:sym typeface="Canva Sans"/>
              </a:rPr>
              <a:t>A quantitative experimental method is used to evaluate machine learning models through performance metrics and scalability testing using a fraud detection dataset.</a:t>
            </a:r>
          </a:p>
          <a:p>
            <a:pPr marL="452437" lvl="1" indent="-226219" algn="just">
              <a:lnSpc>
                <a:spcPts val="3749"/>
              </a:lnSpc>
              <a:buFont typeface="Arial"/>
              <a:buChar char="•"/>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Research Strategy: </a:t>
            </a:r>
            <a:r>
              <a:rPr lang="en-US" sz="2499" dirty="0">
                <a:solidFill>
                  <a:srgbClr val="000000"/>
                </a:solidFill>
                <a:latin typeface="Arial" panose="020B0604020202020204" pitchFamily="34" charset="0"/>
                <a:ea typeface="Canva Sans"/>
                <a:cs typeface="Arial" panose="020B0604020202020204" pitchFamily="34" charset="0"/>
                <a:sym typeface="Canva Sans"/>
              </a:rPr>
              <a:t>The strategy includes dataset preprocessing, feature engineering, model training, evaluation, and scalability comparison using PySpark ML pipelines.</a:t>
            </a:r>
          </a:p>
          <a:p>
            <a:pPr marL="539749" lvl="1" indent="-269875" algn="just">
              <a:lnSpc>
                <a:spcPts val="3749"/>
              </a:lnSpc>
              <a:buFont typeface="Arial"/>
              <a:buChar char="•"/>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Time Horizon: </a:t>
            </a:r>
            <a:r>
              <a:rPr lang="en-US" sz="2499" dirty="0">
                <a:solidFill>
                  <a:srgbClr val="000000"/>
                </a:solidFill>
                <a:latin typeface="Arial" panose="020B0604020202020204" pitchFamily="34" charset="0"/>
                <a:ea typeface="Canva Sans"/>
                <a:cs typeface="Arial" panose="020B0604020202020204" pitchFamily="34" charset="0"/>
                <a:sym typeface="Canva Sans"/>
              </a:rPr>
              <a:t>A cross-sectional time horizon is chosen because the research analyses transaction data collected from an existing dataset within a limited timeframe.</a:t>
            </a:r>
          </a:p>
        </p:txBody>
      </p:sp>
      <p:sp>
        <p:nvSpPr>
          <p:cNvPr id="7" name="TextBox 7"/>
          <p:cNvSpPr txBox="1"/>
          <p:nvPr/>
        </p:nvSpPr>
        <p:spPr>
          <a:xfrm>
            <a:off x="1028700" y="6415542"/>
            <a:ext cx="10515032" cy="3859454"/>
          </a:xfrm>
          <a:prstGeom prst="rect">
            <a:avLst/>
          </a:prstGeom>
        </p:spPr>
        <p:txBody>
          <a:bodyPr lIns="0" tIns="0" rIns="0" bIns="0" rtlCol="0" anchor="t">
            <a:spAutoFit/>
          </a:bodyPr>
          <a:lstStyle/>
          <a:p>
            <a:pPr marL="539759" lvl="1" indent="-269880" algn="l">
              <a:lnSpc>
                <a:spcPts val="3750"/>
              </a:lnSpc>
              <a:buFont typeface="Arial"/>
              <a:buChar char="•"/>
            </a:pPr>
            <a:r>
              <a:rPr lang="en-US" sz="2500" b="1" dirty="0">
                <a:solidFill>
                  <a:srgbClr val="000000"/>
                </a:solidFill>
                <a:latin typeface="Arial" panose="020B0604020202020204" pitchFamily="34" charset="0"/>
                <a:ea typeface="Canva Sans Bold"/>
                <a:cs typeface="Arial" panose="020B0604020202020204" pitchFamily="34" charset="0"/>
                <a:sym typeface="Canva Sans Bold"/>
              </a:rPr>
              <a:t>Tools and Techniques</a:t>
            </a:r>
          </a:p>
          <a:p>
            <a:pPr marL="1079518" lvl="2" indent="-359839" algn="l">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Python and </a:t>
            </a:r>
            <a:r>
              <a:rPr lang="en-US" sz="2500" dirty="0" err="1">
                <a:solidFill>
                  <a:srgbClr val="000000"/>
                </a:solidFill>
                <a:latin typeface="Arial" panose="020B0604020202020204" pitchFamily="34" charset="0"/>
                <a:ea typeface="Canva Sans"/>
                <a:cs typeface="Arial" panose="020B0604020202020204" pitchFamily="34" charset="0"/>
                <a:sym typeface="Canva Sans"/>
              </a:rPr>
              <a:t>PySpark</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marL="1079518" lvl="2" indent="-359839" algn="l">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Spark </a:t>
            </a:r>
            <a:r>
              <a:rPr lang="en-US" sz="2500" dirty="0" err="1">
                <a:solidFill>
                  <a:srgbClr val="000000"/>
                </a:solidFill>
                <a:latin typeface="Arial" panose="020B0604020202020204" pitchFamily="34" charset="0"/>
                <a:ea typeface="Canva Sans"/>
                <a:cs typeface="Arial" panose="020B0604020202020204" pitchFamily="34" charset="0"/>
                <a:sym typeface="Canva Sans"/>
              </a:rPr>
              <a:t>MLlib</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marL="1079518" lvl="2" indent="-359839" algn="l">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Pandas and NumPy</a:t>
            </a:r>
          </a:p>
          <a:p>
            <a:pPr marL="1079518" lvl="2" indent="-359839" algn="l">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Matplotlib and Seaborn</a:t>
            </a:r>
          </a:p>
          <a:p>
            <a:pPr marL="1079518" lvl="2" indent="-359839">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Kaggle </a:t>
            </a:r>
            <a:r>
              <a:rPr lang="en-IN" sz="2500" dirty="0">
                <a:latin typeface="Arial" panose="020B0604020202020204" pitchFamily="34" charset="0"/>
                <a:cs typeface="Arial" panose="020B0604020202020204" pitchFamily="34" charset="0"/>
              </a:rPr>
              <a:t>Synthetic Financial</a:t>
            </a:r>
            <a:r>
              <a:rPr lang="en-US" sz="2500" dirty="0">
                <a:solidFill>
                  <a:srgbClr val="000000"/>
                </a:solidFill>
                <a:latin typeface="Arial" panose="020B0604020202020204" pitchFamily="34" charset="0"/>
                <a:ea typeface="Canva Sans"/>
                <a:cs typeface="Arial" panose="020B0604020202020204" pitchFamily="34" charset="0"/>
                <a:sym typeface="Canva Sans"/>
              </a:rPr>
              <a:t> Dataset</a:t>
            </a:r>
          </a:p>
          <a:p>
            <a:pPr marL="1079518" lvl="2" indent="-359839" algn="l">
              <a:lnSpc>
                <a:spcPts val="3750"/>
              </a:lnSpc>
              <a:buFont typeface="Arial"/>
              <a:buChar char="⚬"/>
            </a:pPr>
            <a:r>
              <a:rPr lang="en-US" sz="2500" dirty="0">
                <a:solidFill>
                  <a:srgbClr val="000000"/>
                </a:solidFill>
                <a:latin typeface="Arial" panose="020B0604020202020204" pitchFamily="34" charset="0"/>
                <a:ea typeface="Canva Sans"/>
                <a:cs typeface="Arial" panose="020B0604020202020204" pitchFamily="34" charset="0"/>
                <a:sym typeface="Canva Sans"/>
              </a:rPr>
              <a:t>Logistic Regression, Random Forest, and Gradient Boosted Trees 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4814" y="0"/>
            <a:ext cx="16904535" cy="851073"/>
            <a:chOff x="0" y="0"/>
            <a:chExt cx="22539380" cy="1134764"/>
          </a:xfrm>
        </p:grpSpPr>
        <p:sp>
          <p:nvSpPr>
            <p:cNvPr id="3" name="Freeform 3"/>
            <p:cNvSpPr/>
            <p:nvPr/>
          </p:nvSpPr>
          <p:spPr>
            <a:xfrm>
              <a:off x="0" y="0"/>
              <a:ext cx="22539381" cy="1134770"/>
            </a:xfrm>
            <a:custGeom>
              <a:avLst/>
              <a:gdLst/>
              <a:ahLst/>
              <a:cxnLst/>
              <a:rect l="l" t="t" r="r" b="b"/>
              <a:pathLst>
                <a:path w="22539381" h="1134770">
                  <a:moveTo>
                    <a:pt x="0" y="0"/>
                  </a:moveTo>
                  <a:lnTo>
                    <a:pt x="22539381" y="0"/>
                  </a:lnTo>
                  <a:lnTo>
                    <a:pt x="22539381" y="1134770"/>
                  </a:lnTo>
                  <a:lnTo>
                    <a:pt x="0" y="1134770"/>
                  </a:lnTo>
                  <a:close/>
                </a:path>
              </a:pathLst>
            </a:custGeom>
            <a:blipFill>
              <a:blip r:embed="rId3">
                <a:alphaModFix amt="0"/>
              </a:blip>
              <a:stretch>
                <a:fillRect t="-311125" r="6691" b="-311124"/>
              </a:stretch>
            </a:blipFill>
          </p:spPr>
          <p:txBody>
            <a:bodyPr/>
            <a:lstStyle/>
            <a:p>
              <a:endParaRPr lang="en-IN" dirty="0"/>
            </a:p>
          </p:txBody>
        </p:sp>
        <p:sp>
          <p:nvSpPr>
            <p:cNvPr id="4" name="TextBox 4"/>
            <p:cNvSpPr txBox="1"/>
            <p:nvPr/>
          </p:nvSpPr>
          <p:spPr>
            <a:xfrm>
              <a:off x="0" y="47625"/>
              <a:ext cx="22539380" cy="1087139"/>
            </a:xfrm>
            <a:prstGeom prst="rect">
              <a:avLst/>
            </a:prstGeom>
          </p:spPr>
          <p:txBody>
            <a:bodyPr lIns="0" tIns="0" rIns="0" bIns="0" rtlCol="0" anchor="ctr"/>
            <a:lstStyle/>
            <a:p>
              <a:pPr algn="ctr">
                <a:lnSpc>
                  <a:spcPts val="4536"/>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Risks ethics and Issues</a:t>
              </a:r>
            </a:p>
          </p:txBody>
        </p:sp>
      </p:grpSp>
      <p:sp>
        <p:nvSpPr>
          <p:cNvPr id="5" name="TextBox 5"/>
          <p:cNvSpPr txBox="1"/>
          <p:nvPr/>
        </p:nvSpPr>
        <p:spPr>
          <a:xfrm>
            <a:off x="354765" y="671283"/>
            <a:ext cx="17933235" cy="9444124"/>
          </a:xfrm>
          <a:prstGeom prst="rect">
            <a:avLst/>
          </a:prstGeom>
        </p:spPr>
        <p:txBody>
          <a:bodyPr lIns="0" tIns="0" rIns="0" bIns="0" rtlCol="0" anchor="t">
            <a:spAutoFit/>
          </a:bodyPr>
          <a:lstStyle/>
          <a:p>
            <a:pPr algn="l">
              <a:lnSpc>
                <a:spcPts val="3749"/>
              </a:lnSpc>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Risks</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 Large dataset processing may increase training time and computational cost.</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Class imbalance can reduce fraud detection accuracy.</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Risk of model overfitting during training (Wiltshire &amp; </a:t>
            </a:r>
            <a:r>
              <a:rPr lang="en-US" sz="2499" dirty="0" err="1">
                <a:solidFill>
                  <a:srgbClr val="000000"/>
                </a:solidFill>
                <a:latin typeface="Arial" panose="020B0604020202020204" pitchFamily="34" charset="0"/>
                <a:ea typeface="Canva Sans"/>
                <a:cs typeface="Arial" panose="020B0604020202020204" pitchFamily="34" charset="0"/>
                <a:sym typeface="Canva Sans"/>
              </a:rPr>
              <a:t>Alvanides</a:t>
            </a:r>
            <a:r>
              <a:rPr lang="en-US" sz="2499" dirty="0">
                <a:solidFill>
                  <a:srgbClr val="000000"/>
                </a:solidFill>
                <a:latin typeface="Arial" panose="020B0604020202020204" pitchFamily="34" charset="0"/>
                <a:ea typeface="Canva Sans"/>
                <a:cs typeface="Arial" panose="020B0604020202020204" pitchFamily="34" charset="0"/>
                <a:sym typeface="Canva Sans"/>
              </a:rPr>
              <a:t>, 2022).</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Limited hardware resources may affect scalability testing.</a:t>
            </a:r>
          </a:p>
          <a:p>
            <a:pPr algn="l">
              <a:lnSpc>
                <a:spcPts val="3749"/>
              </a:lnSpc>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Mitigation Measures </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Use PySpark distributed processing for scalability.</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Apply sampling and feature engineering techniques.</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Use cross-validation and parameter tuning.</a:t>
            </a:r>
          </a:p>
          <a:p>
            <a:pPr marL="1404619" lvl="2" indent="-468206" algn="l">
              <a:lnSpc>
                <a:spcPts val="3749"/>
              </a:lnSpc>
              <a:buFont typeface="Arial"/>
              <a:buChar char="⚬"/>
            </a:pPr>
            <a:r>
              <a:rPr lang="en-US" sz="2499" dirty="0" err="1">
                <a:solidFill>
                  <a:srgbClr val="000000"/>
                </a:solidFill>
                <a:latin typeface="Arial" panose="020B0604020202020204" pitchFamily="34" charset="0"/>
                <a:ea typeface="Canva Sans"/>
                <a:cs typeface="Arial" panose="020B0604020202020204" pitchFamily="34" charset="0"/>
                <a:sym typeface="Canva Sans"/>
              </a:rPr>
              <a:t>Optimise</a:t>
            </a:r>
            <a:r>
              <a:rPr lang="en-US" sz="2499" dirty="0">
                <a:solidFill>
                  <a:srgbClr val="000000"/>
                </a:solidFill>
                <a:latin typeface="Arial" panose="020B0604020202020204" pitchFamily="34" charset="0"/>
                <a:ea typeface="Canva Sans"/>
                <a:cs typeface="Arial" panose="020B0604020202020204" pitchFamily="34" charset="0"/>
                <a:sym typeface="Canva Sans"/>
              </a:rPr>
              <a:t> Spark configurations and dataset partitions.</a:t>
            </a:r>
          </a:p>
          <a:p>
            <a:pPr algn="l">
              <a:lnSpc>
                <a:spcPts val="3749"/>
              </a:lnSpc>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Ethical Issues </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 Ensure responsible use of financial transaction data.</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Maintain data privacy and confidentiality.</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Avoid biased fraud prediction models.</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Use datasets only for academic and research purposes.</a:t>
            </a:r>
          </a:p>
          <a:p>
            <a:pPr algn="l">
              <a:lnSpc>
                <a:spcPts val="3749"/>
              </a:lnSpc>
            </a:pPr>
            <a:r>
              <a:rPr lang="en-US" sz="2499" b="1" dirty="0">
                <a:solidFill>
                  <a:srgbClr val="000000"/>
                </a:solidFill>
                <a:latin typeface="Arial" panose="020B0604020202020204" pitchFamily="34" charset="0"/>
                <a:ea typeface="Canva Sans Bold"/>
                <a:cs typeface="Arial" panose="020B0604020202020204" pitchFamily="34" charset="0"/>
                <a:sym typeface="Canva Sans Bold"/>
              </a:rPr>
              <a:t>Issues</a:t>
            </a:r>
            <a:r>
              <a:rPr lang="en-US" sz="2499" dirty="0">
                <a:solidFill>
                  <a:srgbClr val="000000"/>
                </a:solidFill>
                <a:latin typeface="Arial" panose="020B0604020202020204" pitchFamily="34" charset="0"/>
                <a:ea typeface="Canva Sans"/>
                <a:cs typeface="Arial" panose="020B0604020202020204" pitchFamily="34" charset="0"/>
                <a:sym typeface="Canva Sans"/>
              </a:rPr>
              <a:t> </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 Data quality issues such as missing or inconsistent values.</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Complexity of distributed machine learning implementation.</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Time constraints for training and evaluation of multiple models.</a:t>
            </a:r>
          </a:p>
          <a:p>
            <a:pPr marL="1404619" lvl="2" indent="-468206" algn="l">
              <a:lnSpc>
                <a:spcPts val="3749"/>
              </a:lnSpc>
              <a:buFont typeface="Arial"/>
              <a:buChar char="⚬"/>
            </a:pPr>
            <a:r>
              <a:rPr lang="en-US" sz="2499" dirty="0">
                <a:solidFill>
                  <a:srgbClr val="000000"/>
                </a:solidFill>
                <a:latin typeface="Arial" panose="020B0604020202020204" pitchFamily="34" charset="0"/>
                <a:ea typeface="Canva Sans"/>
                <a:cs typeface="Arial" panose="020B0604020202020204" pitchFamily="34" charset="0"/>
                <a:sym typeface="Canva Sans"/>
              </a:rPr>
              <a:t>Need for accurate interpretation of performance metrics and scalability results.</a:t>
            </a:r>
          </a:p>
        </p:txBody>
      </p:sp>
      <p:sp>
        <p:nvSpPr>
          <p:cNvPr id="6" name="Freeform 6"/>
          <p:cNvSpPr/>
          <p:nvPr/>
        </p:nvSpPr>
        <p:spPr>
          <a:xfrm>
            <a:off x="10686898" y="3396271"/>
            <a:ext cx="7351514" cy="3865474"/>
          </a:xfrm>
          <a:custGeom>
            <a:avLst/>
            <a:gdLst/>
            <a:ahLst/>
            <a:cxnLst/>
            <a:rect l="l" t="t" r="r" b="b"/>
            <a:pathLst>
              <a:path w="7351514" h="3865474">
                <a:moveTo>
                  <a:pt x="0" y="0"/>
                </a:moveTo>
                <a:lnTo>
                  <a:pt x="7351514" y="0"/>
                </a:lnTo>
                <a:lnTo>
                  <a:pt x="7351514" y="3865474"/>
                </a:lnTo>
                <a:lnTo>
                  <a:pt x="0" y="3865474"/>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710651"/>
            <a:ext cx="15773400" cy="828501"/>
            <a:chOff x="0" y="0"/>
            <a:chExt cx="21031200" cy="1104668"/>
          </a:xfrm>
        </p:grpSpPr>
        <p:sp>
          <p:nvSpPr>
            <p:cNvPr id="3" name="Freeform 3"/>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p:cNvSpPr txBox="1"/>
            <p:nvPr/>
          </p:nvSpPr>
          <p:spPr>
            <a:xfrm>
              <a:off x="0" y="47625"/>
              <a:ext cx="21031200" cy="1057043"/>
            </a:xfrm>
            <a:prstGeom prst="rect">
              <a:avLst/>
            </a:prstGeom>
          </p:spPr>
          <p:txBody>
            <a:bodyPr lIns="0" tIns="0" rIns="0" bIns="0" rtlCol="0" anchor="ctr"/>
            <a:lstStyle/>
            <a:p>
              <a:pPr algn="ctr">
                <a:lnSpc>
                  <a:spcPts val="4536"/>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 Project Plan</a:t>
              </a:r>
            </a:p>
          </p:txBody>
        </p:sp>
      </p:grpSp>
      <p:sp>
        <p:nvSpPr>
          <p:cNvPr id="5" name="Freeform 5"/>
          <p:cNvSpPr/>
          <p:nvPr/>
        </p:nvSpPr>
        <p:spPr>
          <a:xfrm>
            <a:off x="1866900" y="1943100"/>
            <a:ext cx="14554200" cy="7597530"/>
          </a:xfrm>
          <a:custGeom>
            <a:avLst/>
            <a:gdLst/>
            <a:ahLst/>
            <a:cxnLst/>
            <a:rect l="l" t="t" r="r" b="b"/>
            <a:pathLst>
              <a:path w="7919304" h="4619832">
                <a:moveTo>
                  <a:pt x="0" y="0"/>
                </a:moveTo>
                <a:lnTo>
                  <a:pt x="7919305" y="0"/>
                </a:lnTo>
                <a:lnTo>
                  <a:pt x="7919305" y="4619832"/>
                </a:lnTo>
                <a:lnTo>
                  <a:pt x="0" y="4619832"/>
                </a:lnTo>
                <a:lnTo>
                  <a:pt x="0" y="0"/>
                </a:lnTo>
                <a:close/>
              </a:path>
            </a:pathLst>
          </a:custGeom>
          <a:blipFill>
            <a:blip r:embed="rId4"/>
            <a:stretch>
              <a:fillRect b="-29421"/>
            </a:stretch>
          </a:blipFill>
        </p:spPr>
        <p:txBody>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A3418-934B-9EA5-4B7A-0A3F3E31428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4EE67C-4BBD-04B0-EF40-9DEA81780ADE}"/>
              </a:ext>
            </a:extLst>
          </p:cNvPr>
          <p:cNvGrpSpPr/>
          <p:nvPr/>
        </p:nvGrpSpPr>
        <p:grpSpPr>
          <a:xfrm>
            <a:off x="1257300" y="710651"/>
            <a:ext cx="15773400" cy="828501"/>
            <a:chOff x="0" y="0"/>
            <a:chExt cx="21031200" cy="1104668"/>
          </a:xfrm>
        </p:grpSpPr>
        <p:sp>
          <p:nvSpPr>
            <p:cNvPr id="3" name="Freeform 3">
              <a:extLst>
                <a:ext uri="{FF2B5EF4-FFF2-40B4-BE49-F238E27FC236}">
                  <a16:creationId xmlns:a16="http://schemas.microsoft.com/office/drawing/2014/main" id="{FABB0D44-1297-BFBD-2D07-F530D9855AB0}"/>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09AD8E82-AC07-8DAB-E938-E43DF8D2AC27}"/>
                </a:ext>
              </a:extLst>
            </p:cNvPr>
            <p:cNvSpPr txBox="1"/>
            <p:nvPr/>
          </p:nvSpPr>
          <p:spPr>
            <a:xfrm>
              <a:off x="0" y="47625"/>
              <a:ext cx="21031200" cy="1057043"/>
            </a:xfrm>
            <a:prstGeom prst="rect">
              <a:avLst/>
            </a:prstGeom>
          </p:spPr>
          <p:txBody>
            <a:bodyPr lIns="0" tIns="0" rIns="0" bIns="0" rtlCol="0" anchor="ctr"/>
            <a:lstStyle/>
            <a:p>
              <a:pPr algn="ctr">
                <a:lnSpc>
                  <a:spcPts val="4536"/>
                </a:lnSpc>
              </a:pPr>
              <a:r>
                <a:rPr lang="en-IN" sz="4400" b="1" dirty="0">
                  <a:latin typeface="Arial" panose="020B0604020202020204" pitchFamily="34" charset="0"/>
                  <a:cs typeface="Arial" panose="020B0604020202020204" pitchFamily="34" charset="0"/>
                </a:rPr>
                <a:t>Deliverables and Architecture</a:t>
              </a:r>
              <a:endParaRPr lang="en-US" sz="4400" b="1" dirty="0">
                <a:solidFill>
                  <a:srgbClr val="000000"/>
                </a:solidFill>
                <a:latin typeface="Arial" panose="020B0604020202020204" pitchFamily="34" charset="0"/>
                <a:ea typeface="Canva Sans Bold"/>
                <a:cs typeface="Arial" panose="020B0604020202020204" pitchFamily="34" charset="0"/>
                <a:sym typeface="Canva Sans Bold"/>
              </a:endParaRPr>
            </a:p>
          </p:txBody>
        </p:sp>
      </p:grpSp>
      <p:sp>
        <p:nvSpPr>
          <p:cNvPr id="7" name="TextBox 6">
            <a:extLst>
              <a:ext uri="{FF2B5EF4-FFF2-40B4-BE49-F238E27FC236}">
                <a16:creationId xmlns:a16="http://schemas.microsoft.com/office/drawing/2014/main" id="{05E3FEAB-84B3-B4A8-EA69-B98325806F3F}"/>
              </a:ext>
            </a:extLst>
          </p:cNvPr>
          <p:cNvSpPr txBox="1"/>
          <p:nvPr/>
        </p:nvSpPr>
        <p:spPr>
          <a:xfrm>
            <a:off x="1524000" y="2192644"/>
            <a:ext cx="7239000" cy="6986528"/>
          </a:xfrm>
          <a:prstGeom prst="rect">
            <a:avLst/>
          </a:prstGeom>
          <a:noFill/>
        </p:spPr>
        <p:txBody>
          <a:bodyPr wrap="square">
            <a:spAutoFit/>
          </a:bodyPr>
          <a:lstStyle/>
          <a:p>
            <a:pPr>
              <a:buNone/>
            </a:pPr>
            <a:r>
              <a:rPr lang="en-IN" sz="2800" b="1" dirty="0"/>
              <a:t>Project Deliverables</a:t>
            </a:r>
          </a:p>
          <a:p>
            <a:pPr>
              <a:buFont typeface="Arial" panose="020B0604020202020204" pitchFamily="34" charset="0"/>
              <a:buChar char="•"/>
            </a:pPr>
            <a:r>
              <a:rPr lang="en-IN" sz="2800" dirty="0"/>
              <a:t>Scalable PySpark-based fraud detection framework </a:t>
            </a:r>
          </a:p>
          <a:p>
            <a:pPr>
              <a:buFont typeface="Arial" panose="020B0604020202020204" pitchFamily="34" charset="0"/>
              <a:buChar char="•"/>
            </a:pPr>
            <a:r>
              <a:rPr lang="en-IN" sz="2800" dirty="0"/>
              <a:t>Pre-processed financial transaction dataset </a:t>
            </a:r>
          </a:p>
          <a:p>
            <a:pPr>
              <a:buFont typeface="Arial" panose="020B0604020202020204" pitchFamily="34" charset="0"/>
              <a:buChar char="•"/>
            </a:pPr>
            <a:r>
              <a:rPr lang="en-IN" sz="2800" b="1" dirty="0"/>
              <a:t>Three ML models: </a:t>
            </a:r>
          </a:p>
          <a:p>
            <a:pPr marL="742950" lvl="1" indent="-285750">
              <a:buFont typeface="Arial" panose="020B0604020202020204" pitchFamily="34" charset="0"/>
              <a:buChar char="•"/>
            </a:pPr>
            <a:r>
              <a:rPr lang="en-IN" sz="2800" dirty="0"/>
              <a:t>Logistic Regression </a:t>
            </a:r>
          </a:p>
          <a:p>
            <a:pPr marL="742950" lvl="1" indent="-285750">
              <a:buFont typeface="Arial" panose="020B0604020202020204" pitchFamily="34" charset="0"/>
              <a:buChar char="•"/>
            </a:pPr>
            <a:r>
              <a:rPr lang="en-IN" sz="2800" dirty="0"/>
              <a:t>Random Forest </a:t>
            </a:r>
          </a:p>
          <a:p>
            <a:pPr marL="742950" lvl="1" indent="-285750">
              <a:buFont typeface="Arial" panose="020B0604020202020204" pitchFamily="34" charset="0"/>
              <a:buChar char="•"/>
            </a:pPr>
            <a:r>
              <a:rPr lang="en-IN" sz="2800" dirty="0"/>
              <a:t>Gradient Boosted Trees </a:t>
            </a:r>
          </a:p>
          <a:p>
            <a:pPr>
              <a:buFont typeface="Arial" panose="020B0604020202020204" pitchFamily="34" charset="0"/>
              <a:buChar char="•"/>
            </a:pPr>
            <a:r>
              <a:rPr lang="en-IN" sz="2800" dirty="0"/>
              <a:t>Model prediction and evaluation results </a:t>
            </a:r>
          </a:p>
          <a:p>
            <a:pPr>
              <a:buFont typeface="Arial" panose="020B0604020202020204" pitchFamily="34" charset="0"/>
              <a:buChar char="•"/>
            </a:pPr>
            <a:r>
              <a:rPr lang="en-IN" sz="2800" dirty="0"/>
              <a:t>Confusion matrices and ROC curves </a:t>
            </a:r>
          </a:p>
          <a:p>
            <a:pPr>
              <a:buFont typeface="Arial" panose="020B0604020202020204" pitchFamily="34" charset="0"/>
              <a:buChar char="•"/>
            </a:pPr>
            <a:r>
              <a:rPr lang="en-IN" sz="2800" dirty="0"/>
              <a:t>ROC-AUC and performance comparison </a:t>
            </a:r>
          </a:p>
          <a:p>
            <a:pPr>
              <a:buFont typeface="Arial" panose="020B0604020202020204" pitchFamily="34" charset="0"/>
              <a:buChar char="•"/>
            </a:pPr>
            <a:r>
              <a:rPr lang="en-IN" sz="2800" dirty="0"/>
              <a:t>Scalability and training-time analysis </a:t>
            </a:r>
          </a:p>
          <a:p>
            <a:pPr>
              <a:buFont typeface="Arial" panose="020B0604020202020204" pitchFamily="34" charset="0"/>
              <a:buChar char="•"/>
            </a:pPr>
            <a:r>
              <a:rPr lang="en-IN" sz="2800" dirty="0"/>
              <a:t>Final fraud detection model comparison </a:t>
            </a:r>
          </a:p>
          <a:p>
            <a:pPr>
              <a:buNone/>
            </a:pPr>
            <a:r>
              <a:rPr lang="en-IN" sz="2800" dirty="0"/>
              <a:t>The framework is designed to support banks, FinTech companies, cybersecurity analysts and online payment platforms.</a:t>
            </a:r>
          </a:p>
        </p:txBody>
      </p:sp>
      <p:graphicFrame>
        <p:nvGraphicFramePr>
          <p:cNvPr id="9" name="Diagram 8">
            <a:extLst>
              <a:ext uri="{FF2B5EF4-FFF2-40B4-BE49-F238E27FC236}">
                <a16:creationId xmlns:a16="http://schemas.microsoft.com/office/drawing/2014/main" id="{3FD2F834-AB46-B0D8-8CE0-F755D56FB8CB}"/>
              </a:ext>
            </a:extLst>
          </p:cNvPr>
          <p:cNvGraphicFramePr/>
          <p:nvPr>
            <p:extLst>
              <p:ext uri="{D42A27DB-BD31-4B8C-83A1-F6EECF244321}">
                <p14:modId xmlns:p14="http://schemas.microsoft.com/office/powerpoint/2010/main" val="3095903639"/>
              </p:ext>
            </p:extLst>
          </p:nvPr>
        </p:nvGraphicFramePr>
        <p:xfrm>
          <a:off x="10146634" y="1831187"/>
          <a:ext cx="5638800" cy="77094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32453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C4B4-800E-A5C8-90D3-28C67F3E84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402207-D8BD-EAE3-9CE6-FB3FFD04A512}"/>
              </a:ext>
            </a:extLst>
          </p:cNvPr>
          <p:cNvGrpSpPr/>
          <p:nvPr/>
        </p:nvGrpSpPr>
        <p:grpSpPr>
          <a:xfrm>
            <a:off x="1257300" y="710651"/>
            <a:ext cx="20383500" cy="864210"/>
            <a:chOff x="0" y="0"/>
            <a:chExt cx="27178000" cy="1152279"/>
          </a:xfrm>
        </p:grpSpPr>
        <p:sp>
          <p:nvSpPr>
            <p:cNvPr id="3" name="Freeform 3">
              <a:extLst>
                <a:ext uri="{FF2B5EF4-FFF2-40B4-BE49-F238E27FC236}">
                  <a16:creationId xmlns:a16="http://schemas.microsoft.com/office/drawing/2014/main" id="{3BE8C732-60DA-4414-DADB-213D31FC6969}"/>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A6582C21-21D6-5929-3921-F51AA37D1A48}"/>
                </a:ext>
              </a:extLst>
            </p:cNvPr>
            <p:cNvSpPr txBox="1"/>
            <p:nvPr/>
          </p:nvSpPr>
          <p:spPr>
            <a:xfrm>
              <a:off x="6146800" y="95236"/>
              <a:ext cx="21031200" cy="1057043"/>
            </a:xfrm>
            <a:prstGeom prst="rect">
              <a:avLst/>
            </a:prstGeom>
          </p:spPr>
          <p:txBody>
            <a:bodyPr lIns="0" tIns="0" rIns="0" bIns="0" rtlCol="0" anchor="ctr"/>
            <a:lstStyle/>
            <a:p>
              <a:r>
                <a:rPr lang="en-US" sz="4400" b="1" dirty="0"/>
                <a:t>Tools, Testing and Deployment</a:t>
              </a:r>
            </a:p>
          </p:txBody>
        </p:sp>
      </p:grpSp>
      <p:sp>
        <p:nvSpPr>
          <p:cNvPr id="6" name="TextBox 5">
            <a:extLst>
              <a:ext uri="{FF2B5EF4-FFF2-40B4-BE49-F238E27FC236}">
                <a16:creationId xmlns:a16="http://schemas.microsoft.com/office/drawing/2014/main" id="{38C687E8-D7DE-05EB-8116-1D9E338BD95E}"/>
              </a:ext>
            </a:extLst>
          </p:cNvPr>
          <p:cNvSpPr txBox="1"/>
          <p:nvPr/>
        </p:nvSpPr>
        <p:spPr>
          <a:xfrm>
            <a:off x="1066799" y="2171700"/>
            <a:ext cx="6248401" cy="7971413"/>
          </a:xfrm>
          <a:prstGeom prst="rect">
            <a:avLst/>
          </a:prstGeom>
          <a:noFill/>
        </p:spPr>
        <p:txBody>
          <a:bodyPr wrap="square">
            <a:spAutoFit/>
          </a:bodyPr>
          <a:lstStyle/>
          <a:p>
            <a:pPr>
              <a:buNone/>
            </a:pPr>
            <a:r>
              <a:rPr lang="en-IN" sz="3200" b="1" dirty="0"/>
              <a:t>Testing</a:t>
            </a:r>
            <a:endParaRPr lang="en-IN" sz="3200" dirty="0"/>
          </a:p>
          <a:p>
            <a:pPr>
              <a:buFont typeface="Arial" panose="020B0604020202020204" pitchFamily="34" charset="0"/>
              <a:buChar char="•"/>
            </a:pPr>
            <a:r>
              <a:rPr lang="en-IN" sz="3200" dirty="0"/>
              <a:t>Data validation </a:t>
            </a:r>
          </a:p>
          <a:p>
            <a:pPr>
              <a:buFont typeface="Arial" panose="020B0604020202020204" pitchFamily="34" charset="0"/>
              <a:buChar char="•"/>
            </a:pPr>
            <a:r>
              <a:rPr lang="en-IN" sz="3200" dirty="0"/>
              <a:t>Model training and prediction </a:t>
            </a:r>
          </a:p>
          <a:p>
            <a:pPr>
              <a:buFont typeface="Arial" panose="020B0604020202020204" pitchFamily="34" charset="0"/>
              <a:buChar char="•"/>
            </a:pPr>
            <a:r>
              <a:rPr lang="en-IN" sz="3200" dirty="0"/>
              <a:t>Performance metrics </a:t>
            </a:r>
          </a:p>
          <a:p>
            <a:pPr>
              <a:buFont typeface="Arial" panose="020B0604020202020204" pitchFamily="34" charset="0"/>
              <a:buChar char="•"/>
            </a:pPr>
            <a:r>
              <a:rPr lang="en-IN" sz="3200" dirty="0"/>
              <a:t>Confusion matrices </a:t>
            </a:r>
          </a:p>
          <a:p>
            <a:pPr>
              <a:buFont typeface="Arial" panose="020B0604020202020204" pitchFamily="34" charset="0"/>
              <a:buChar char="•"/>
            </a:pPr>
            <a:r>
              <a:rPr lang="en-IN" sz="3200" dirty="0"/>
              <a:t>ROC-AUC </a:t>
            </a:r>
          </a:p>
          <a:p>
            <a:pPr>
              <a:buFont typeface="Arial" panose="020B0604020202020204" pitchFamily="34" charset="0"/>
              <a:buChar char="•"/>
            </a:pPr>
            <a:r>
              <a:rPr lang="en-IN" sz="3200" dirty="0"/>
              <a:t>Training time </a:t>
            </a:r>
          </a:p>
          <a:p>
            <a:pPr>
              <a:buFont typeface="Arial" panose="020B0604020202020204" pitchFamily="34" charset="0"/>
              <a:buChar char="•"/>
            </a:pPr>
            <a:r>
              <a:rPr lang="en-IN" sz="3200" dirty="0"/>
              <a:t>Scalability testing </a:t>
            </a:r>
          </a:p>
          <a:p>
            <a:endParaRPr lang="en-IN" sz="3200" dirty="0"/>
          </a:p>
          <a:p>
            <a:pPr>
              <a:buNone/>
            </a:pPr>
            <a:r>
              <a:rPr lang="en-IN" sz="3200" b="1" dirty="0"/>
              <a:t>Deployment</a:t>
            </a:r>
            <a:endParaRPr lang="en-IN" sz="3200" dirty="0"/>
          </a:p>
          <a:p>
            <a:pPr>
              <a:buFont typeface="Arial" panose="020B0604020202020204" pitchFamily="34" charset="0"/>
              <a:buChar char="•"/>
            </a:pPr>
            <a:r>
              <a:rPr lang="en-IN" sz="3200" dirty="0"/>
              <a:t>Functional PySpark research prototype </a:t>
            </a:r>
          </a:p>
          <a:p>
            <a:pPr>
              <a:buFont typeface="Arial" panose="020B0604020202020204" pitchFamily="34" charset="0"/>
              <a:buChar char="•"/>
            </a:pPr>
            <a:r>
              <a:rPr lang="en-IN" sz="3200" dirty="0"/>
              <a:t>Executed in development environment </a:t>
            </a:r>
          </a:p>
          <a:p>
            <a:pPr>
              <a:buFont typeface="Arial" panose="020B0604020202020204" pitchFamily="34" charset="0"/>
              <a:buChar char="•"/>
            </a:pPr>
            <a:r>
              <a:rPr lang="en-IN" sz="3200" dirty="0"/>
              <a:t>Suitable for future production integration</a:t>
            </a:r>
          </a:p>
        </p:txBody>
      </p:sp>
      <p:graphicFrame>
        <p:nvGraphicFramePr>
          <p:cNvPr id="11" name="Table 10">
            <a:extLst>
              <a:ext uri="{FF2B5EF4-FFF2-40B4-BE49-F238E27FC236}">
                <a16:creationId xmlns:a16="http://schemas.microsoft.com/office/drawing/2014/main" id="{84475674-9479-2816-DDF8-492531A0D704}"/>
              </a:ext>
            </a:extLst>
          </p:cNvPr>
          <p:cNvGraphicFramePr>
            <a:graphicFrameLocks noGrp="1"/>
          </p:cNvGraphicFramePr>
          <p:nvPr>
            <p:extLst>
              <p:ext uri="{D42A27DB-BD31-4B8C-83A1-F6EECF244321}">
                <p14:modId xmlns:p14="http://schemas.microsoft.com/office/powerpoint/2010/main" val="3225280324"/>
              </p:ext>
            </p:extLst>
          </p:nvPr>
        </p:nvGraphicFramePr>
        <p:xfrm>
          <a:off x="9144000" y="2705100"/>
          <a:ext cx="8077202" cy="6629402"/>
        </p:xfrm>
        <a:graphic>
          <a:graphicData uri="http://schemas.openxmlformats.org/drawingml/2006/table">
            <a:tbl>
              <a:tblPr>
                <a:tableStyleId>{D113A9D2-9D6B-4929-AA2D-F23B5EE8CBE7}</a:tableStyleId>
              </a:tblPr>
              <a:tblGrid>
                <a:gridCol w="4038601">
                  <a:extLst>
                    <a:ext uri="{9D8B030D-6E8A-4147-A177-3AD203B41FA5}">
                      <a16:colId xmlns:a16="http://schemas.microsoft.com/office/drawing/2014/main" val="2228576311"/>
                    </a:ext>
                  </a:extLst>
                </a:gridCol>
                <a:gridCol w="4038601">
                  <a:extLst>
                    <a:ext uri="{9D8B030D-6E8A-4147-A177-3AD203B41FA5}">
                      <a16:colId xmlns:a16="http://schemas.microsoft.com/office/drawing/2014/main" val="2041921559"/>
                    </a:ext>
                  </a:extLst>
                </a:gridCol>
              </a:tblGrid>
              <a:tr h="646771">
                <a:tc>
                  <a:txBody>
                    <a:bodyPr/>
                    <a:lstStyle/>
                    <a:p>
                      <a:pPr>
                        <a:buNone/>
                      </a:pPr>
                      <a:r>
                        <a:rPr lang="en-IN" sz="3200" b="1" dirty="0">
                          <a:solidFill>
                            <a:schemeClr val="tx1"/>
                          </a:solidFill>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200" b="1" dirty="0">
                          <a:solidFill>
                            <a:schemeClr val="tx1"/>
                          </a:solidFill>
                        </a:rPr>
                        <a:t>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617808"/>
                  </a:ext>
                </a:extLst>
              </a:tr>
              <a:tr h="646771">
                <a:tc>
                  <a:txBody>
                    <a:bodyPr/>
                    <a:lstStyle/>
                    <a:p>
                      <a:pPr>
                        <a:buNone/>
                      </a:pPr>
                      <a:r>
                        <a:rPr lang="en-IN" sz="3200"/>
                        <a:t>Programming</a:t>
                      </a:r>
                    </a:p>
                  </a:txBody>
                  <a:tcPr anchor="ctr">
                    <a:lnT w="12700" cap="flat" cmpd="sng" algn="ctr">
                      <a:solidFill>
                        <a:schemeClr val="tx1"/>
                      </a:solidFill>
                      <a:prstDash val="solid"/>
                      <a:round/>
                      <a:headEnd type="none" w="med" len="med"/>
                      <a:tailEnd type="none" w="med" len="med"/>
                    </a:lnT>
                  </a:tcPr>
                </a:tc>
                <a:tc>
                  <a:txBody>
                    <a:bodyPr/>
                    <a:lstStyle/>
                    <a:p>
                      <a:pPr>
                        <a:buNone/>
                      </a:pPr>
                      <a:r>
                        <a:rPr lang="en-IN" sz="3200"/>
                        <a:t>Python</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80817993"/>
                  </a:ext>
                </a:extLst>
              </a:tr>
              <a:tr h="646771">
                <a:tc>
                  <a:txBody>
                    <a:bodyPr/>
                    <a:lstStyle/>
                    <a:p>
                      <a:pPr>
                        <a:buNone/>
                      </a:pPr>
                      <a:r>
                        <a:rPr lang="en-IN" sz="3200"/>
                        <a:t>Big Data</a:t>
                      </a:r>
                    </a:p>
                  </a:txBody>
                  <a:tcPr anchor="ctr"/>
                </a:tc>
                <a:tc>
                  <a:txBody>
                    <a:bodyPr/>
                    <a:lstStyle/>
                    <a:p>
                      <a:pPr>
                        <a:buNone/>
                      </a:pPr>
                      <a:r>
                        <a:rPr lang="en-IN" sz="3200" dirty="0"/>
                        <a:t>PySpark</a:t>
                      </a:r>
                    </a:p>
                  </a:txBody>
                  <a:tcPr anchor="ctr"/>
                </a:tc>
                <a:extLst>
                  <a:ext uri="{0D108BD9-81ED-4DB2-BD59-A6C34878D82A}">
                    <a16:rowId xmlns:a16="http://schemas.microsoft.com/office/drawing/2014/main" val="2405110436"/>
                  </a:ext>
                </a:extLst>
              </a:tr>
              <a:tr h="646771">
                <a:tc>
                  <a:txBody>
                    <a:bodyPr/>
                    <a:lstStyle/>
                    <a:p>
                      <a:pPr>
                        <a:buNone/>
                      </a:pPr>
                      <a:r>
                        <a:rPr lang="en-IN" sz="3200"/>
                        <a:t>ML</a:t>
                      </a:r>
                    </a:p>
                  </a:txBody>
                  <a:tcPr anchor="ctr"/>
                </a:tc>
                <a:tc>
                  <a:txBody>
                    <a:bodyPr/>
                    <a:lstStyle/>
                    <a:p>
                      <a:pPr>
                        <a:buNone/>
                      </a:pPr>
                      <a:r>
                        <a:rPr lang="en-IN" sz="3200" dirty="0"/>
                        <a:t>Spark MLlib</a:t>
                      </a:r>
                    </a:p>
                  </a:txBody>
                  <a:tcPr anchor="ctr"/>
                </a:tc>
                <a:extLst>
                  <a:ext uri="{0D108BD9-81ED-4DB2-BD59-A6C34878D82A}">
                    <a16:rowId xmlns:a16="http://schemas.microsoft.com/office/drawing/2014/main" val="3295155900"/>
                  </a:ext>
                </a:extLst>
              </a:tr>
              <a:tr h="646771">
                <a:tc>
                  <a:txBody>
                    <a:bodyPr/>
                    <a:lstStyle/>
                    <a:p>
                      <a:pPr>
                        <a:buNone/>
                      </a:pPr>
                      <a:r>
                        <a:rPr lang="en-IN" sz="3200"/>
                        <a:t>Data Processing</a:t>
                      </a:r>
                    </a:p>
                  </a:txBody>
                  <a:tcPr anchor="ctr"/>
                </a:tc>
                <a:tc>
                  <a:txBody>
                    <a:bodyPr/>
                    <a:lstStyle/>
                    <a:p>
                      <a:pPr>
                        <a:buNone/>
                      </a:pPr>
                      <a:r>
                        <a:rPr lang="en-IN" sz="3200" dirty="0"/>
                        <a:t>Pandas, NumPy</a:t>
                      </a:r>
                    </a:p>
                  </a:txBody>
                  <a:tcPr anchor="ctr"/>
                </a:tc>
                <a:extLst>
                  <a:ext uri="{0D108BD9-81ED-4DB2-BD59-A6C34878D82A}">
                    <a16:rowId xmlns:a16="http://schemas.microsoft.com/office/drawing/2014/main" val="1066506985"/>
                  </a:ext>
                </a:extLst>
              </a:tr>
              <a:tr h="1131849">
                <a:tc>
                  <a:txBody>
                    <a:bodyPr/>
                    <a:lstStyle/>
                    <a:p>
                      <a:pPr>
                        <a:buNone/>
                      </a:pPr>
                      <a:r>
                        <a:rPr lang="en-IN" sz="3200"/>
                        <a:t>Visualisation</a:t>
                      </a:r>
                    </a:p>
                  </a:txBody>
                  <a:tcPr anchor="ctr"/>
                </a:tc>
                <a:tc>
                  <a:txBody>
                    <a:bodyPr/>
                    <a:lstStyle/>
                    <a:p>
                      <a:pPr>
                        <a:buNone/>
                      </a:pPr>
                      <a:r>
                        <a:rPr lang="en-IN" sz="3200"/>
                        <a:t>Matplotlib, Seaborn</a:t>
                      </a:r>
                    </a:p>
                  </a:txBody>
                  <a:tcPr anchor="ctr"/>
                </a:tc>
                <a:extLst>
                  <a:ext uri="{0D108BD9-81ED-4DB2-BD59-A6C34878D82A}">
                    <a16:rowId xmlns:a16="http://schemas.microsoft.com/office/drawing/2014/main" val="4263987738"/>
                  </a:ext>
                </a:extLst>
              </a:tr>
              <a:tr h="1131849">
                <a:tc>
                  <a:txBody>
                    <a:bodyPr/>
                    <a:lstStyle/>
                    <a:p>
                      <a:pPr>
                        <a:buNone/>
                      </a:pPr>
                      <a:r>
                        <a:rPr lang="en-IN" sz="3200"/>
                        <a:t>Development Environment</a:t>
                      </a:r>
                    </a:p>
                  </a:txBody>
                  <a:tcPr anchor="ctr"/>
                </a:tc>
                <a:tc>
                  <a:txBody>
                    <a:bodyPr/>
                    <a:lstStyle/>
                    <a:p>
                      <a:pPr>
                        <a:buNone/>
                      </a:pPr>
                      <a:r>
                        <a:rPr lang="en-IN" sz="3200"/>
                        <a:t>Google Colab</a:t>
                      </a:r>
                    </a:p>
                  </a:txBody>
                  <a:tcPr anchor="ctr"/>
                </a:tc>
                <a:extLst>
                  <a:ext uri="{0D108BD9-81ED-4DB2-BD59-A6C34878D82A}">
                    <a16:rowId xmlns:a16="http://schemas.microsoft.com/office/drawing/2014/main" val="3065472389"/>
                  </a:ext>
                </a:extLst>
              </a:tr>
              <a:tr h="1131849">
                <a:tc>
                  <a:txBody>
                    <a:bodyPr/>
                    <a:lstStyle/>
                    <a:p>
                      <a:pPr>
                        <a:buNone/>
                      </a:pPr>
                      <a:r>
                        <a:rPr lang="en-IN" sz="3200" dirty="0"/>
                        <a:t>Dataset</a:t>
                      </a:r>
                    </a:p>
                  </a:txBody>
                  <a:tcPr anchor="ctr"/>
                </a:tc>
                <a:tc>
                  <a:txBody>
                    <a:bodyPr/>
                    <a:lstStyle/>
                    <a:p>
                      <a:pPr>
                        <a:buNone/>
                      </a:pPr>
                      <a:r>
                        <a:rPr lang="en-IN" sz="3200" dirty="0"/>
                        <a:t>Kaggle Financial Fraud Dataset</a:t>
                      </a:r>
                    </a:p>
                  </a:txBody>
                  <a:tcPr anchor="ctr"/>
                </a:tc>
                <a:extLst>
                  <a:ext uri="{0D108BD9-81ED-4DB2-BD59-A6C34878D82A}">
                    <a16:rowId xmlns:a16="http://schemas.microsoft.com/office/drawing/2014/main" val="2627110786"/>
                  </a:ext>
                </a:extLst>
              </a:tr>
            </a:tbl>
          </a:graphicData>
        </a:graphic>
      </p:graphicFrame>
    </p:spTree>
    <p:extLst>
      <p:ext uri="{BB962C8B-B14F-4D97-AF65-F5344CB8AC3E}">
        <p14:creationId xmlns:p14="http://schemas.microsoft.com/office/powerpoint/2010/main" val="1293675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433C6-30AB-E555-66F8-3D6D60EFC6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E40C2C-4AE7-942D-39C9-FBA1D51B499B}"/>
              </a:ext>
            </a:extLst>
          </p:cNvPr>
          <p:cNvGrpSpPr/>
          <p:nvPr/>
        </p:nvGrpSpPr>
        <p:grpSpPr>
          <a:xfrm>
            <a:off x="1257300" y="710651"/>
            <a:ext cx="20383500" cy="864210"/>
            <a:chOff x="0" y="0"/>
            <a:chExt cx="27178000" cy="1152279"/>
          </a:xfrm>
        </p:grpSpPr>
        <p:sp>
          <p:nvSpPr>
            <p:cNvPr id="3" name="Freeform 3">
              <a:extLst>
                <a:ext uri="{FF2B5EF4-FFF2-40B4-BE49-F238E27FC236}">
                  <a16:creationId xmlns:a16="http://schemas.microsoft.com/office/drawing/2014/main" id="{B704D903-D735-AD38-9818-9CE69973FD0A}"/>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24FEDB44-F36A-EA7A-F840-96506B9B9ECE}"/>
                </a:ext>
              </a:extLst>
            </p:cNvPr>
            <p:cNvSpPr txBox="1"/>
            <p:nvPr/>
          </p:nvSpPr>
          <p:spPr>
            <a:xfrm>
              <a:off x="6146800" y="95236"/>
              <a:ext cx="21031200" cy="1057043"/>
            </a:xfrm>
            <a:prstGeom prst="rect">
              <a:avLst/>
            </a:prstGeom>
          </p:spPr>
          <p:txBody>
            <a:bodyPr lIns="0" tIns="0" rIns="0" bIns="0" rtlCol="0" anchor="ctr"/>
            <a:lstStyle/>
            <a:p>
              <a:r>
                <a:rPr lang="en-US" sz="4400" b="1" dirty="0"/>
                <a:t>Code Snippets</a:t>
              </a:r>
            </a:p>
          </p:txBody>
        </p:sp>
      </p:grpSp>
      <p:pic>
        <p:nvPicPr>
          <p:cNvPr id="7" name="Picture 6">
            <a:extLst>
              <a:ext uri="{FF2B5EF4-FFF2-40B4-BE49-F238E27FC236}">
                <a16:creationId xmlns:a16="http://schemas.microsoft.com/office/drawing/2014/main" id="{F81E0FD4-716C-4570-39FD-D4CE451B5A8C}"/>
              </a:ext>
            </a:extLst>
          </p:cNvPr>
          <p:cNvPicPr>
            <a:picLocks noChangeAspect="1"/>
          </p:cNvPicPr>
          <p:nvPr/>
        </p:nvPicPr>
        <p:blipFill>
          <a:blip r:embed="rId4"/>
          <a:stretch>
            <a:fillRect/>
          </a:stretch>
        </p:blipFill>
        <p:spPr>
          <a:xfrm>
            <a:off x="914400" y="1648293"/>
            <a:ext cx="6135148" cy="4128540"/>
          </a:xfrm>
          <a:prstGeom prst="rect">
            <a:avLst/>
          </a:prstGeom>
        </p:spPr>
      </p:pic>
      <p:pic>
        <p:nvPicPr>
          <p:cNvPr id="9" name="Picture 8">
            <a:extLst>
              <a:ext uri="{FF2B5EF4-FFF2-40B4-BE49-F238E27FC236}">
                <a16:creationId xmlns:a16="http://schemas.microsoft.com/office/drawing/2014/main" id="{80560EA6-75AD-4B7A-C8E8-3B742A785518}"/>
              </a:ext>
            </a:extLst>
          </p:cNvPr>
          <p:cNvPicPr>
            <a:picLocks noChangeAspect="1"/>
          </p:cNvPicPr>
          <p:nvPr/>
        </p:nvPicPr>
        <p:blipFill>
          <a:blip r:embed="rId5"/>
          <a:stretch>
            <a:fillRect/>
          </a:stretch>
        </p:blipFill>
        <p:spPr>
          <a:xfrm>
            <a:off x="9156032" y="1996450"/>
            <a:ext cx="6135148" cy="4640289"/>
          </a:xfrm>
          <a:prstGeom prst="rect">
            <a:avLst/>
          </a:prstGeom>
        </p:spPr>
      </p:pic>
      <p:pic>
        <p:nvPicPr>
          <p:cNvPr id="12" name="Picture 11">
            <a:extLst>
              <a:ext uri="{FF2B5EF4-FFF2-40B4-BE49-F238E27FC236}">
                <a16:creationId xmlns:a16="http://schemas.microsoft.com/office/drawing/2014/main" id="{26E883E9-ED63-C994-8155-7093D2D8AD58}"/>
              </a:ext>
            </a:extLst>
          </p:cNvPr>
          <p:cNvPicPr>
            <a:picLocks noChangeAspect="1"/>
          </p:cNvPicPr>
          <p:nvPr/>
        </p:nvPicPr>
        <p:blipFill>
          <a:blip r:embed="rId6"/>
          <a:stretch>
            <a:fillRect/>
          </a:stretch>
        </p:blipFill>
        <p:spPr>
          <a:xfrm>
            <a:off x="1295532" y="6362700"/>
            <a:ext cx="5372884" cy="3547145"/>
          </a:xfrm>
          <a:prstGeom prst="rect">
            <a:avLst/>
          </a:prstGeom>
        </p:spPr>
      </p:pic>
      <p:pic>
        <p:nvPicPr>
          <p:cNvPr id="14" name="Picture 13">
            <a:extLst>
              <a:ext uri="{FF2B5EF4-FFF2-40B4-BE49-F238E27FC236}">
                <a16:creationId xmlns:a16="http://schemas.microsoft.com/office/drawing/2014/main" id="{2FD7217C-7D8B-86AA-9F79-FE7863A0BC8F}"/>
              </a:ext>
            </a:extLst>
          </p:cNvPr>
          <p:cNvPicPr>
            <a:picLocks noChangeAspect="1"/>
          </p:cNvPicPr>
          <p:nvPr/>
        </p:nvPicPr>
        <p:blipFill>
          <a:blip r:embed="rId7"/>
          <a:stretch>
            <a:fillRect/>
          </a:stretch>
        </p:blipFill>
        <p:spPr>
          <a:xfrm>
            <a:off x="9176085" y="7298102"/>
            <a:ext cx="6858957" cy="2295845"/>
          </a:xfrm>
          <a:prstGeom prst="rect">
            <a:avLst/>
          </a:prstGeom>
        </p:spPr>
      </p:pic>
    </p:spTree>
    <p:extLst>
      <p:ext uri="{BB962C8B-B14F-4D97-AF65-F5344CB8AC3E}">
        <p14:creationId xmlns:p14="http://schemas.microsoft.com/office/powerpoint/2010/main" val="385077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498D-C0C2-A56B-A6A4-09D2E8EDE5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AEBA16-BC95-71DB-CFDA-B807208E437A}"/>
              </a:ext>
            </a:extLst>
          </p:cNvPr>
          <p:cNvGrpSpPr/>
          <p:nvPr/>
        </p:nvGrpSpPr>
        <p:grpSpPr>
          <a:xfrm>
            <a:off x="1257300" y="710651"/>
            <a:ext cx="21907500" cy="828496"/>
            <a:chOff x="0" y="0"/>
            <a:chExt cx="29210000" cy="1104661"/>
          </a:xfrm>
        </p:grpSpPr>
        <p:sp>
          <p:nvSpPr>
            <p:cNvPr id="3" name="Freeform 3">
              <a:extLst>
                <a:ext uri="{FF2B5EF4-FFF2-40B4-BE49-F238E27FC236}">
                  <a16:creationId xmlns:a16="http://schemas.microsoft.com/office/drawing/2014/main" id="{6D957A74-B078-B368-A423-64FD4F704F22}"/>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CF3A6AB4-C213-C499-792D-B9B7487FB9DD}"/>
                </a:ext>
              </a:extLst>
            </p:cNvPr>
            <p:cNvSpPr txBox="1"/>
            <p:nvPr/>
          </p:nvSpPr>
          <p:spPr>
            <a:xfrm>
              <a:off x="8178800" y="47617"/>
              <a:ext cx="21031200" cy="1057043"/>
            </a:xfrm>
            <a:prstGeom prst="rect">
              <a:avLst/>
            </a:prstGeom>
          </p:spPr>
          <p:txBody>
            <a:bodyPr lIns="0" tIns="0" rIns="0" bIns="0" rtlCol="0" anchor="ctr"/>
            <a:lstStyle/>
            <a:p>
              <a:r>
                <a:rPr lang="en-US" sz="4400" b="1" dirty="0"/>
                <a:t>Results</a:t>
              </a:r>
            </a:p>
          </p:txBody>
        </p:sp>
      </p:grpSp>
      <p:pic>
        <p:nvPicPr>
          <p:cNvPr id="8" name="Picture 7">
            <a:extLst>
              <a:ext uri="{FF2B5EF4-FFF2-40B4-BE49-F238E27FC236}">
                <a16:creationId xmlns:a16="http://schemas.microsoft.com/office/drawing/2014/main" id="{6A70C764-849A-D04F-5FA8-E10F625E30C2}"/>
              </a:ext>
            </a:extLst>
          </p:cNvPr>
          <p:cNvPicPr>
            <a:picLocks noChangeAspect="1"/>
          </p:cNvPicPr>
          <p:nvPr/>
        </p:nvPicPr>
        <p:blipFill>
          <a:blip r:embed="rId4"/>
          <a:stretch>
            <a:fillRect/>
          </a:stretch>
        </p:blipFill>
        <p:spPr>
          <a:xfrm>
            <a:off x="304800" y="2514690"/>
            <a:ext cx="6261285" cy="2286000"/>
          </a:xfrm>
          <a:prstGeom prst="rect">
            <a:avLst/>
          </a:prstGeom>
        </p:spPr>
      </p:pic>
      <p:pic>
        <p:nvPicPr>
          <p:cNvPr id="2054" name="Picture 6">
            <a:extLst>
              <a:ext uri="{FF2B5EF4-FFF2-40B4-BE49-F238E27FC236}">
                <a16:creationId xmlns:a16="http://schemas.microsoft.com/office/drawing/2014/main" id="{170AC3C1-0B4A-50EF-BCB0-0EDEA7389D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5776233"/>
            <a:ext cx="5956485" cy="322711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E12492AA-F072-C72F-D713-D9D3C52418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1098" y="1921043"/>
            <a:ext cx="5707025" cy="314560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2F3303F3-6426-70D1-6E95-E869CAD7A1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34389" y="5754175"/>
            <a:ext cx="4519612" cy="403299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7CC5EEC8-DF41-6E82-0737-542216E7DF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07471" y="6397037"/>
            <a:ext cx="5707024" cy="3145604"/>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94A9F04D-C8BE-3539-2948-13BBBB656C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24588" y="1951715"/>
            <a:ext cx="5707024" cy="351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01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7498-D1CF-0AFE-E49F-D29E53A23A9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975EF9-E9DD-3AB2-4EF2-7B15947FFF2C}"/>
              </a:ext>
            </a:extLst>
          </p:cNvPr>
          <p:cNvGrpSpPr/>
          <p:nvPr/>
        </p:nvGrpSpPr>
        <p:grpSpPr>
          <a:xfrm>
            <a:off x="1257300" y="710651"/>
            <a:ext cx="21907500" cy="828496"/>
            <a:chOff x="0" y="0"/>
            <a:chExt cx="29210000" cy="1104661"/>
          </a:xfrm>
        </p:grpSpPr>
        <p:sp>
          <p:nvSpPr>
            <p:cNvPr id="3" name="Freeform 3">
              <a:extLst>
                <a:ext uri="{FF2B5EF4-FFF2-40B4-BE49-F238E27FC236}">
                  <a16:creationId xmlns:a16="http://schemas.microsoft.com/office/drawing/2014/main" id="{C1D2F58B-D5EF-DC45-02E0-3C545019D8DA}"/>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A3959D1E-1A41-D524-643D-99F1B4E69D0B}"/>
                </a:ext>
              </a:extLst>
            </p:cNvPr>
            <p:cNvSpPr txBox="1"/>
            <p:nvPr/>
          </p:nvSpPr>
          <p:spPr>
            <a:xfrm>
              <a:off x="8178800" y="47617"/>
              <a:ext cx="21031200" cy="1057043"/>
            </a:xfrm>
            <a:prstGeom prst="rect">
              <a:avLst/>
            </a:prstGeom>
          </p:spPr>
          <p:txBody>
            <a:bodyPr lIns="0" tIns="0" rIns="0" bIns="0" rtlCol="0" anchor="ctr"/>
            <a:lstStyle/>
            <a:p>
              <a:r>
                <a:rPr lang="en-US" sz="4400" b="1" dirty="0"/>
                <a:t>Evaluation</a:t>
              </a:r>
            </a:p>
          </p:txBody>
        </p:sp>
      </p:grpSp>
      <p:graphicFrame>
        <p:nvGraphicFramePr>
          <p:cNvPr id="5" name="Table 4">
            <a:extLst>
              <a:ext uri="{FF2B5EF4-FFF2-40B4-BE49-F238E27FC236}">
                <a16:creationId xmlns:a16="http://schemas.microsoft.com/office/drawing/2014/main" id="{EFC07960-7A65-731E-C731-F6E18AFDDF98}"/>
              </a:ext>
            </a:extLst>
          </p:cNvPr>
          <p:cNvGraphicFramePr>
            <a:graphicFrameLocks noGrp="1"/>
          </p:cNvGraphicFramePr>
          <p:nvPr>
            <p:extLst>
              <p:ext uri="{D42A27DB-BD31-4B8C-83A1-F6EECF244321}">
                <p14:modId xmlns:p14="http://schemas.microsoft.com/office/powerpoint/2010/main" val="1412455412"/>
              </p:ext>
            </p:extLst>
          </p:nvPr>
        </p:nvGraphicFramePr>
        <p:xfrm>
          <a:off x="457200" y="2542590"/>
          <a:ext cx="6934200" cy="6029910"/>
        </p:xfrm>
        <a:graphic>
          <a:graphicData uri="http://schemas.openxmlformats.org/drawingml/2006/table">
            <a:tbl>
              <a:tblPr>
                <a:tableStyleId>{3C2FFA5D-87B4-456A-9821-1D502468CF0F}</a:tableStyleId>
              </a:tblPr>
              <a:tblGrid>
                <a:gridCol w="3467100">
                  <a:extLst>
                    <a:ext uri="{9D8B030D-6E8A-4147-A177-3AD203B41FA5}">
                      <a16:colId xmlns:a16="http://schemas.microsoft.com/office/drawing/2014/main" val="2993660092"/>
                    </a:ext>
                  </a:extLst>
                </a:gridCol>
                <a:gridCol w="3467100">
                  <a:extLst>
                    <a:ext uri="{9D8B030D-6E8A-4147-A177-3AD203B41FA5}">
                      <a16:colId xmlns:a16="http://schemas.microsoft.com/office/drawing/2014/main" val="476422014"/>
                    </a:ext>
                  </a:extLst>
                </a:gridCol>
              </a:tblGrid>
              <a:tr h="669990">
                <a:tc>
                  <a:txBody>
                    <a:bodyPr/>
                    <a:lstStyle/>
                    <a:p>
                      <a:pPr>
                        <a:buNone/>
                      </a:pPr>
                      <a:r>
                        <a:rPr lang="en-IN"/>
                        <a:t>Area</a:t>
                      </a:r>
                    </a:p>
                  </a:txBody>
                  <a:tcPr anchor="ctr"/>
                </a:tc>
                <a:tc>
                  <a:txBody>
                    <a:bodyPr/>
                    <a:lstStyle/>
                    <a:p>
                      <a:pPr>
                        <a:buNone/>
                      </a:pPr>
                      <a:r>
                        <a:rPr lang="en-IN" dirty="0"/>
                        <a:t>Self-Evaluation</a:t>
                      </a:r>
                    </a:p>
                  </a:txBody>
                  <a:tcPr anchor="ctr"/>
                </a:tc>
                <a:extLst>
                  <a:ext uri="{0D108BD9-81ED-4DB2-BD59-A6C34878D82A}">
                    <a16:rowId xmlns:a16="http://schemas.microsoft.com/office/drawing/2014/main" val="2728327951"/>
                  </a:ext>
                </a:extLst>
              </a:tr>
              <a:tr h="669990">
                <a:tc>
                  <a:txBody>
                    <a:bodyPr/>
                    <a:lstStyle/>
                    <a:p>
                      <a:pPr>
                        <a:buNone/>
                      </a:pPr>
                      <a:r>
                        <a:rPr lang="en-IN"/>
                        <a:t>Research objectives</a:t>
                      </a:r>
                    </a:p>
                  </a:txBody>
                  <a:tcPr anchor="ctr"/>
                </a:tc>
                <a:tc>
                  <a:txBody>
                    <a:bodyPr/>
                    <a:lstStyle/>
                    <a:p>
                      <a:pPr>
                        <a:buNone/>
                      </a:pPr>
                      <a:r>
                        <a:rPr lang="en-IN" b="1"/>
                        <a:t>Achieved</a:t>
                      </a:r>
                      <a:endParaRPr lang="en-IN"/>
                    </a:p>
                  </a:txBody>
                  <a:tcPr anchor="ctr"/>
                </a:tc>
                <a:extLst>
                  <a:ext uri="{0D108BD9-81ED-4DB2-BD59-A6C34878D82A}">
                    <a16:rowId xmlns:a16="http://schemas.microsoft.com/office/drawing/2014/main" val="272504290"/>
                  </a:ext>
                </a:extLst>
              </a:tr>
              <a:tr h="669990">
                <a:tc>
                  <a:txBody>
                    <a:bodyPr/>
                    <a:lstStyle/>
                    <a:p>
                      <a:pPr>
                        <a:buNone/>
                      </a:pPr>
                      <a:r>
                        <a:rPr lang="en-IN"/>
                        <a:t>Dataset preprocessing</a:t>
                      </a:r>
                    </a:p>
                  </a:txBody>
                  <a:tcPr anchor="ctr"/>
                </a:tc>
                <a:tc>
                  <a:txBody>
                    <a:bodyPr/>
                    <a:lstStyle/>
                    <a:p>
                      <a:pPr>
                        <a:buNone/>
                      </a:pPr>
                      <a:r>
                        <a:rPr lang="en-IN" b="1" dirty="0"/>
                        <a:t>Achieved</a:t>
                      </a:r>
                      <a:endParaRPr lang="en-IN" dirty="0"/>
                    </a:p>
                  </a:txBody>
                  <a:tcPr anchor="ctr"/>
                </a:tc>
                <a:extLst>
                  <a:ext uri="{0D108BD9-81ED-4DB2-BD59-A6C34878D82A}">
                    <a16:rowId xmlns:a16="http://schemas.microsoft.com/office/drawing/2014/main" val="1006901942"/>
                  </a:ext>
                </a:extLst>
              </a:tr>
              <a:tr h="669990">
                <a:tc>
                  <a:txBody>
                    <a:bodyPr/>
                    <a:lstStyle/>
                    <a:p>
                      <a:pPr>
                        <a:buNone/>
                      </a:pPr>
                      <a:r>
                        <a:rPr lang="en-IN"/>
                        <a:t>ML implementation</a:t>
                      </a:r>
                    </a:p>
                  </a:txBody>
                  <a:tcPr anchor="ctr"/>
                </a:tc>
                <a:tc>
                  <a:txBody>
                    <a:bodyPr/>
                    <a:lstStyle/>
                    <a:p>
                      <a:pPr>
                        <a:buNone/>
                      </a:pPr>
                      <a:r>
                        <a:rPr lang="en-IN" b="1"/>
                        <a:t>Achieved</a:t>
                      </a:r>
                      <a:endParaRPr lang="en-IN"/>
                    </a:p>
                  </a:txBody>
                  <a:tcPr anchor="ctr"/>
                </a:tc>
                <a:extLst>
                  <a:ext uri="{0D108BD9-81ED-4DB2-BD59-A6C34878D82A}">
                    <a16:rowId xmlns:a16="http://schemas.microsoft.com/office/drawing/2014/main" val="1800181012"/>
                  </a:ext>
                </a:extLst>
              </a:tr>
              <a:tr h="669990">
                <a:tc>
                  <a:txBody>
                    <a:bodyPr/>
                    <a:lstStyle/>
                    <a:p>
                      <a:pPr>
                        <a:buNone/>
                      </a:pPr>
                      <a:r>
                        <a:rPr lang="en-IN"/>
                        <a:t>Model comparison</a:t>
                      </a:r>
                    </a:p>
                  </a:txBody>
                  <a:tcPr anchor="ctr"/>
                </a:tc>
                <a:tc>
                  <a:txBody>
                    <a:bodyPr/>
                    <a:lstStyle/>
                    <a:p>
                      <a:pPr>
                        <a:buNone/>
                      </a:pPr>
                      <a:r>
                        <a:rPr lang="en-IN" b="1" dirty="0"/>
                        <a:t>Achieved</a:t>
                      </a:r>
                      <a:endParaRPr lang="en-IN" dirty="0"/>
                    </a:p>
                  </a:txBody>
                  <a:tcPr anchor="ctr"/>
                </a:tc>
                <a:extLst>
                  <a:ext uri="{0D108BD9-81ED-4DB2-BD59-A6C34878D82A}">
                    <a16:rowId xmlns:a16="http://schemas.microsoft.com/office/drawing/2014/main" val="308384499"/>
                  </a:ext>
                </a:extLst>
              </a:tr>
              <a:tr h="669990">
                <a:tc>
                  <a:txBody>
                    <a:bodyPr/>
                    <a:lstStyle/>
                    <a:p>
                      <a:pPr>
                        <a:buNone/>
                      </a:pPr>
                      <a:r>
                        <a:rPr lang="en-IN"/>
                        <a:t>Performance evaluation</a:t>
                      </a:r>
                    </a:p>
                  </a:txBody>
                  <a:tcPr anchor="ctr"/>
                </a:tc>
                <a:tc>
                  <a:txBody>
                    <a:bodyPr/>
                    <a:lstStyle/>
                    <a:p>
                      <a:pPr>
                        <a:buNone/>
                      </a:pPr>
                      <a:r>
                        <a:rPr lang="en-IN" b="1" dirty="0"/>
                        <a:t>Achieved</a:t>
                      </a:r>
                      <a:endParaRPr lang="en-IN" dirty="0"/>
                    </a:p>
                  </a:txBody>
                  <a:tcPr anchor="ctr"/>
                </a:tc>
                <a:extLst>
                  <a:ext uri="{0D108BD9-81ED-4DB2-BD59-A6C34878D82A}">
                    <a16:rowId xmlns:a16="http://schemas.microsoft.com/office/drawing/2014/main" val="221787485"/>
                  </a:ext>
                </a:extLst>
              </a:tr>
              <a:tr h="669990">
                <a:tc>
                  <a:txBody>
                    <a:bodyPr/>
                    <a:lstStyle/>
                    <a:p>
                      <a:pPr>
                        <a:buNone/>
                      </a:pPr>
                      <a:r>
                        <a:rPr lang="en-IN"/>
                        <a:t>Scalability analysis</a:t>
                      </a:r>
                    </a:p>
                  </a:txBody>
                  <a:tcPr anchor="ctr"/>
                </a:tc>
                <a:tc>
                  <a:txBody>
                    <a:bodyPr/>
                    <a:lstStyle/>
                    <a:p>
                      <a:pPr>
                        <a:buNone/>
                      </a:pPr>
                      <a:r>
                        <a:rPr lang="en-IN" b="1"/>
                        <a:t>Achieved</a:t>
                      </a:r>
                      <a:endParaRPr lang="en-IN"/>
                    </a:p>
                  </a:txBody>
                  <a:tcPr anchor="ctr"/>
                </a:tc>
                <a:extLst>
                  <a:ext uri="{0D108BD9-81ED-4DB2-BD59-A6C34878D82A}">
                    <a16:rowId xmlns:a16="http://schemas.microsoft.com/office/drawing/2014/main" val="4153483709"/>
                  </a:ext>
                </a:extLst>
              </a:tr>
              <a:tr h="669990">
                <a:tc>
                  <a:txBody>
                    <a:bodyPr/>
                    <a:lstStyle/>
                    <a:p>
                      <a:pPr>
                        <a:buNone/>
                      </a:pPr>
                      <a:r>
                        <a:rPr lang="en-IN"/>
                        <a:t>Real-time deployment</a:t>
                      </a:r>
                    </a:p>
                  </a:txBody>
                  <a:tcPr anchor="ctr"/>
                </a:tc>
                <a:tc>
                  <a:txBody>
                    <a:bodyPr/>
                    <a:lstStyle/>
                    <a:p>
                      <a:pPr>
                        <a:buNone/>
                      </a:pPr>
                      <a:r>
                        <a:rPr lang="en-IN" b="1" dirty="0"/>
                        <a:t>Partially achieved / Future work</a:t>
                      </a:r>
                      <a:endParaRPr lang="en-IN" dirty="0"/>
                    </a:p>
                  </a:txBody>
                  <a:tcPr anchor="ctr"/>
                </a:tc>
                <a:extLst>
                  <a:ext uri="{0D108BD9-81ED-4DB2-BD59-A6C34878D82A}">
                    <a16:rowId xmlns:a16="http://schemas.microsoft.com/office/drawing/2014/main" val="3573379902"/>
                  </a:ext>
                </a:extLst>
              </a:tr>
              <a:tr h="669990">
                <a:tc>
                  <a:txBody>
                    <a:bodyPr/>
                    <a:lstStyle/>
                    <a:p>
                      <a:pPr>
                        <a:buNone/>
                      </a:pPr>
                      <a:r>
                        <a:rPr lang="en-IN"/>
                        <a:t>External user validation</a:t>
                      </a:r>
                    </a:p>
                  </a:txBody>
                  <a:tcPr anchor="ctr"/>
                </a:tc>
                <a:tc>
                  <a:txBody>
                    <a:bodyPr/>
                    <a:lstStyle/>
                    <a:p>
                      <a:pPr>
                        <a:buNone/>
                      </a:pPr>
                      <a:r>
                        <a:rPr lang="en-IN" b="1" dirty="0"/>
                        <a:t>Not evidenced</a:t>
                      </a:r>
                      <a:endParaRPr lang="en-IN" dirty="0"/>
                    </a:p>
                  </a:txBody>
                  <a:tcPr anchor="ctr"/>
                </a:tc>
                <a:extLst>
                  <a:ext uri="{0D108BD9-81ED-4DB2-BD59-A6C34878D82A}">
                    <a16:rowId xmlns:a16="http://schemas.microsoft.com/office/drawing/2014/main" val="2732046167"/>
                  </a:ext>
                </a:extLst>
              </a:tr>
            </a:tbl>
          </a:graphicData>
        </a:graphic>
      </p:graphicFrame>
      <p:sp>
        <p:nvSpPr>
          <p:cNvPr id="6" name="Rectangle 1">
            <a:extLst>
              <a:ext uri="{FF2B5EF4-FFF2-40B4-BE49-F238E27FC236}">
                <a16:creationId xmlns:a16="http://schemas.microsoft.com/office/drawing/2014/main" id="{A94FA8AD-316F-11FE-ADFF-2582C5120CBF}"/>
              </a:ext>
            </a:extLst>
          </p:cNvPr>
          <p:cNvSpPr>
            <a:spLocks noChangeArrowheads="1"/>
          </p:cNvSpPr>
          <p:nvPr/>
        </p:nvSpPr>
        <p:spPr bwMode="auto">
          <a:xfrm>
            <a:off x="2438400" y="1803926"/>
            <a:ext cx="240642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Self-Evaluation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0547EB4-0BBE-ADB1-E155-06576121C8CD}"/>
              </a:ext>
            </a:extLst>
          </p:cNvPr>
          <p:cNvSpPr txBox="1"/>
          <p:nvPr/>
        </p:nvSpPr>
        <p:spPr>
          <a:xfrm>
            <a:off x="9677400" y="1539146"/>
            <a:ext cx="8379995" cy="8463855"/>
          </a:xfrm>
          <a:prstGeom prst="rect">
            <a:avLst/>
          </a:prstGeom>
          <a:noFill/>
        </p:spPr>
        <p:txBody>
          <a:bodyPr wrap="square">
            <a:spAutoFit/>
          </a:bodyPr>
          <a:lstStyle/>
          <a:p>
            <a:pPr>
              <a:buNone/>
            </a:pPr>
            <a:r>
              <a:rPr lang="en-IN" sz="3200" b="1" dirty="0"/>
              <a:t>User / Potential Beneficiary Evaluation</a:t>
            </a:r>
          </a:p>
          <a:p>
            <a:pPr>
              <a:buFont typeface="Arial" panose="020B0604020202020204" pitchFamily="34" charset="0"/>
              <a:buChar char="•"/>
            </a:pPr>
            <a:r>
              <a:rPr lang="en-IN" sz="3200" dirty="0"/>
              <a:t>Evaluation focused on the intended beneficiaries: </a:t>
            </a:r>
          </a:p>
          <a:p>
            <a:pPr marL="742950" lvl="1" indent="-285750">
              <a:buFont typeface="Arial" panose="020B0604020202020204" pitchFamily="34" charset="0"/>
              <a:buChar char="•"/>
            </a:pPr>
            <a:r>
              <a:rPr lang="en-IN" sz="3200" dirty="0"/>
              <a:t>Banks </a:t>
            </a:r>
          </a:p>
          <a:p>
            <a:pPr marL="742950" lvl="1" indent="-285750">
              <a:buFont typeface="Arial" panose="020B0604020202020204" pitchFamily="34" charset="0"/>
              <a:buChar char="•"/>
            </a:pPr>
            <a:r>
              <a:rPr lang="en-IN" sz="3200" dirty="0"/>
              <a:t>FinTech organisations </a:t>
            </a:r>
          </a:p>
          <a:p>
            <a:pPr marL="742950" lvl="1" indent="-285750">
              <a:buFont typeface="Arial" panose="020B0604020202020204" pitchFamily="34" charset="0"/>
              <a:buChar char="•"/>
            </a:pPr>
            <a:r>
              <a:rPr lang="en-IN" sz="3200" dirty="0"/>
              <a:t>Cybersecurity analysts </a:t>
            </a:r>
          </a:p>
          <a:p>
            <a:pPr marL="742950" lvl="1" indent="-285750">
              <a:buFont typeface="Arial" panose="020B0604020202020204" pitchFamily="34" charset="0"/>
              <a:buChar char="•"/>
            </a:pPr>
            <a:r>
              <a:rPr lang="en-IN" sz="3200" dirty="0"/>
              <a:t>Online payment platforms </a:t>
            </a:r>
          </a:p>
          <a:p>
            <a:pPr>
              <a:buFont typeface="Arial" panose="020B0604020202020204" pitchFamily="34" charset="0"/>
              <a:buChar char="•"/>
            </a:pPr>
            <a:r>
              <a:rPr lang="en-IN" sz="3200" dirty="0"/>
              <a:t>The evaluation considered </a:t>
            </a:r>
            <a:r>
              <a:rPr lang="en-IN" sz="3200" b="1" dirty="0"/>
              <a:t>accuracy, fraud detection capability, processing efficiency and scalability</a:t>
            </a:r>
            <a:r>
              <a:rPr lang="en-IN" sz="3200" dirty="0"/>
              <a:t>. </a:t>
            </a:r>
          </a:p>
          <a:p>
            <a:pPr>
              <a:buFont typeface="Arial" panose="020B0604020202020204" pitchFamily="34" charset="0"/>
              <a:buChar char="•"/>
            </a:pPr>
            <a:r>
              <a:rPr lang="en-IN" sz="3200" dirty="0"/>
              <a:t>UAT covered: </a:t>
            </a:r>
          </a:p>
          <a:p>
            <a:pPr marL="742950" lvl="1" indent="-285750">
              <a:buFont typeface="Arial" panose="020B0604020202020204" pitchFamily="34" charset="0"/>
              <a:buChar char="•"/>
            </a:pPr>
            <a:r>
              <a:rPr lang="en-IN" sz="3200" dirty="0"/>
              <a:t>Dataset processing </a:t>
            </a:r>
          </a:p>
          <a:p>
            <a:pPr marL="742950" lvl="1" indent="-285750">
              <a:buFont typeface="Arial" panose="020B0604020202020204" pitchFamily="34" charset="0"/>
              <a:buChar char="•"/>
            </a:pPr>
            <a:r>
              <a:rPr lang="en-IN" sz="3200" dirty="0"/>
              <a:t>Model execution </a:t>
            </a:r>
          </a:p>
          <a:p>
            <a:pPr marL="742950" lvl="1" indent="-285750">
              <a:buFont typeface="Arial" panose="020B0604020202020204" pitchFamily="34" charset="0"/>
              <a:buChar char="•"/>
            </a:pPr>
            <a:r>
              <a:rPr lang="en-IN" sz="3200" dirty="0"/>
              <a:t>Fraud prediction </a:t>
            </a:r>
          </a:p>
          <a:p>
            <a:pPr marL="742950" lvl="1" indent="-285750">
              <a:buFont typeface="Arial" panose="020B0604020202020204" pitchFamily="34" charset="0"/>
              <a:buChar char="•"/>
            </a:pPr>
            <a:r>
              <a:rPr lang="en-IN" sz="3200" dirty="0"/>
              <a:t>Performance metrics </a:t>
            </a:r>
          </a:p>
          <a:p>
            <a:pPr marL="742950" lvl="1" indent="-285750">
              <a:buFont typeface="Arial" panose="020B0604020202020204" pitchFamily="34" charset="0"/>
              <a:buChar char="•"/>
            </a:pPr>
            <a:r>
              <a:rPr lang="en-IN" sz="3200" dirty="0"/>
              <a:t>Model comparison </a:t>
            </a:r>
          </a:p>
          <a:p>
            <a:pPr marL="742950" lvl="1" indent="-285750">
              <a:buFont typeface="Arial" panose="020B0604020202020204" pitchFamily="34" charset="0"/>
              <a:buChar char="•"/>
            </a:pPr>
            <a:r>
              <a:rPr lang="en-IN" sz="3200" dirty="0"/>
              <a:t>Scalability testing</a:t>
            </a:r>
          </a:p>
        </p:txBody>
      </p:sp>
    </p:spTree>
    <p:extLst>
      <p:ext uri="{BB962C8B-B14F-4D97-AF65-F5344CB8AC3E}">
        <p14:creationId xmlns:p14="http://schemas.microsoft.com/office/powerpoint/2010/main" val="98039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3BDED-8477-5796-AFF5-46741F8D84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33D66D4-97FA-0233-7B28-9E39A4F0B21D}"/>
              </a:ext>
            </a:extLst>
          </p:cNvPr>
          <p:cNvGrpSpPr/>
          <p:nvPr/>
        </p:nvGrpSpPr>
        <p:grpSpPr>
          <a:xfrm>
            <a:off x="1257300" y="710651"/>
            <a:ext cx="21907500" cy="828496"/>
            <a:chOff x="0" y="0"/>
            <a:chExt cx="29210000" cy="1104661"/>
          </a:xfrm>
        </p:grpSpPr>
        <p:sp>
          <p:nvSpPr>
            <p:cNvPr id="3" name="Freeform 3">
              <a:extLst>
                <a:ext uri="{FF2B5EF4-FFF2-40B4-BE49-F238E27FC236}">
                  <a16:creationId xmlns:a16="http://schemas.microsoft.com/office/drawing/2014/main" id="{5986F333-B2B1-D3D6-7B93-6BF0BA38F314}"/>
                </a:ext>
              </a:extLst>
            </p:cNvPr>
            <p:cNvSpPr/>
            <p:nvPr/>
          </p:nvSpPr>
          <p:spPr>
            <a:xfrm>
              <a:off x="0" y="0"/>
              <a:ext cx="21031200" cy="1104661"/>
            </a:xfrm>
            <a:custGeom>
              <a:avLst/>
              <a:gdLst/>
              <a:ahLst/>
              <a:cxnLst/>
              <a:rect l="l" t="t" r="r" b="b"/>
              <a:pathLst>
                <a:path w="21031200" h="1104661">
                  <a:moveTo>
                    <a:pt x="0" y="0"/>
                  </a:moveTo>
                  <a:lnTo>
                    <a:pt x="21031200" y="0"/>
                  </a:lnTo>
                  <a:lnTo>
                    <a:pt x="21031200" y="1104661"/>
                  </a:lnTo>
                  <a:lnTo>
                    <a:pt x="0" y="1104661"/>
                  </a:lnTo>
                  <a:close/>
                </a:path>
              </a:pathLst>
            </a:custGeom>
            <a:blipFill>
              <a:blip r:embed="rId3">
                <a:alphaModFix amt="0"/>
              </a:blip>
              <a:stretch>
                <a:fillRect t="-329440" b="-312495"/>
              </a:stretch>
            </a:blipFill>
          </p:spPr>
          <p:txBody>
            <a:bodyPr/>
            <a:lstStyle/>
            <a:p>
              <a:endParaRPr lang="en-IN"/>
            </a:p>
          </p:txBody>
        </p:sp>
        <p:sp>
          <p:nvSpPr>
            <p:cNvPr id="4" name="TextBox 4">
              <a:extLst>
                <a:ext uri="{FF2B5EF4-FFF2-40B4-BE49-F238E27FC236}">
                  <a16:creationId xmlns:a16="http://schemas.microsoft.com/office/drawing/2014/main" id="{EEE38F17-3FCF-74BC-9423-BC726F7C8CDB}"/>
                </a:ext>
              </a:extLst>
            </p:cNvPr>
            <p:cNvSpPr txBox="1"/>
            <p:nvPr/>
          </p:nvSpPr>
          <p:spPr>
            <a:xfrm>
              <a:off x="8178800" y="47617"/>
              <a:ext cx="21031200" cy="1057043"/>
            </a:xfrm>
            <a:prstGeom prst="rect">
              <a:avLst/>
            </a:prstGeom>
          </p:spPr>
          <p:txBody>
            <a:bodyPr lIns="0" tIns="0" rIns="0" bIns="0" rtlCol="0" anchor="ctr"/>
            <a:lstStyle/>
            <a:p>
              <a:r>
                <a:rPr lang="en-US" sz="4400" b="1" dirty="0"/>
                <a:t>Conclusion</a:t>
              </a:r>
            </a:p>
          </p:txBody>
        </p:sp>
      </p:grpSp>
      <p:sp>
        <p:nvSpPr>
          <p:cNvPr id="6" name="TextBox 5">
            <a:extLst>
              <a:ext uri="{FF2B5EF4-FFF2-40B4-BE49-F238E27FC236}">
                <a16:creationId xmlns:a16="http://schemas.microsoft.com/office/drawing/2014/main" id="{AFE0E0A0-191F-6B8E-2A20-E7FD10A882A6}"/>
              </a:ext>
            </a:extLst>
          </p:cNvPr>
          <p:cNvSpPr txBox="1"/>
          <p:nvPr/>
        </p:nvSpPr>
        <p:spPr>
          <a:xfrm>
            <a:off x="1269332" y="1943100"/>
            <a:ext cx="15773400" cy="7135158"/>
          </a:xfrm>
          <a:prstGeom prst="rect">
            <a:avLst/>
          </a:prstGeom>
          <a:noFill/>
        </p:spPr>
        <p:txBody>
          <a:bodyPr wrap="square">
            <a:spAutoFit/>
          </a:bodyPr>
          <a:lstStyle/>
          <a:p>
            <a:pPr algn="just">
              <a:lnSpc>
                <a:spcPct val="150000"/>
              </a:lnSpc>
            </a:pPr>
            <a:r>
              <a:rPr lang="en-GB" sz="2800" b="1" dirty="0"/>
              <a:t>Lack of large-scale fraud detection research: </a:t>
            </a:r>
            <a:r>
              <a:rPr lang="en-GB" sz="2800" dirty="0"/>
              <a:t>Addressed by creating a PySpark fraud detection system for financial transaction data.</a:t>
            </a:r>
          </a:p>
          <a:p>
            <a:pPr algn="just">
              <a:lnSpc>
                <a:spcPct val="150000"/>
              </a:lnSpc>
            </a:pPr>
            <a:r>
              <a:rPr lang="en-GB" sz="2800" b="1" dirty="0"/>
              <a:t>Limited comparison of PySpark based ML models: </a:t>
            </a:r>
            <a:r>
              <a:rPr lang="en-GB" sz="2800" dirty="0"/>
              <a:t>Addressed successfully by comparing Logistic Regression, Random Forest and Gradient Boosted Trees.</a:t>
            </a:r>
          </a:p>
          <a:p>
            <a:pPr algn="just">
              <a:lnSpc>
                <a:spcPct val="150000"/>
              </a:lnSpc>
            </a:pPr>
            <a:r>
              <a:rPr lang="en-GB" sz="2800" b="1" dirty="0"/>
              <a:t>Focus on accuracy rather than scalability: </a:t>
            </a:r>
            <a:r>
              <a:rPr lang="en-GB" sz="2800" dirty="0"/>
              <a:t>Addressed by measuring model training time and testing different dataset sizes in addition to predictive performance.</a:t>
            </a:r>
          </a:p>
          <a:p>
            <a:pPr algn="just">
              <a:lnSpc>
                <a:spcPct val="150000"/>
              </a:lnSpc>
            </a:pPr>
            <a:r>
              <a:rPr lang="en-GB" sz="2800" b="1" dirty="0"/>
              <a:t>Class imbalance: </a:t>
            </a:r>
            <a:r>
              <a:rPr lang="en-GB" sz="2800" dirty="0"/>
              <a:t>This is addressed by class weighting, however it is a problem for fraud prediction.</a:t>
            </a:r>
          </a:p>
          <a:p>
            <a:pPr algn="just">
              <a:lnSpc>
                <a:spcPct val="150000"/>
              </a:lnSpc>
            </a:pPr>
            <a:r>
              <a:rPr lang="en-GB" sz="2800" b="1" dirty="0"/>
              <a:t>Need for computational efficiency: </a:t>
            </a:r>
            <a:r>
              <a:rPr lang="en-GB" sz="2800" dirty="0"/>
              <a:t>Training times are compared to demonstrate the computational speed of the model, showing the trade-off between model complexity and processing speed.</a:t>
            </a:r>
          </a:p>
          <a:p>
            <a:pPr algn="just">
              <a:lnSpc>
                <a:spcPct val="150000"/>
              </a:lnSpc>
            </a:pPr>
            <a:r>
              <a:rPr lang="en-GB" sz="2800" b="1" dirty="0"/>
              <a:t>Overall: </a:t>
            </a:r>
            <a:r>
              <a:rPr lang="en-GB" sz="2800" dirty="0"/>
              <a:t>The solution met the key gap in literature, and only a few areas for real-time deployment and testing remain.</a:t>
            </a:r>
          </a:p>
        </p:txBody>
      </p:sp>
    </p:spTree>
    <p:extLst>
      <p:ext uri="{BB962C8B-B14F-4D97-AF65-F5344CB8AC3E}">
        <p14:creationId xmlns:p14="http://schemas.microsoft.com/office/powerpoint/2010/main" val="4208220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12495"/>
            <a:ext cx="15773400" cy="1041195"/>
            <a:chOff x="0" y="0"/>
            <a:chExt cx="21031200" cy="1388260"/>
          </a:xfrm>
        </p:grpSpPr>
        <p:sp>
          <p:nvSpPr>
            <p:cNvPr id="3" name="Freeform 3"/>
            <p:cNvSpPr/>
            <p:nvPr/>
          </p:nvSpPr>
          <p:spPr>
            <a:xfrm>
              <a:off x="0" y="0"/>
              <a:ext cx="21031200" cy="1388258"/>
            </a:xfrm>
            <a:custGeom>
              <a:avLst/>
              <a:gdLst/>
              <a:ahLst/>
              <a:cxnLst/>
              <a:rect l="l" t="t" r="r" b="b"/>
              <a:pathLst>
                <a:path w="21031200" h="1388258">
                  <a:moveTo>
                    <a:pt x="0" y="0"/>
                  </a:moveTo>
                  <a:lnTo>
                    <a:pt x="21031200" y="0"/>
                  </a:lnTo>
                  <a:lnTo>
                    <a:pt x="21031200" y="1388258"/>
                  </a:lnTo>
                  <a:lnTo>
                    <a:pt x="0" y="1388258"/>
                  </a:lnTo>
                  <a:close/>
                </a:path>
              </a:pathLst>
            </a:custGeom>
            <a:blipFill>
              <a:blip r:embed="rId2">
                <a:alphaModFix amt="0"/>
              </a:blip>
              <a:stretch>
                <a:fillRect t="-245185" b="-245185"/>
              </a:stretch>
            </a:blipFill>
          </p:spPr>
          <p:txBody>
            <a:bodyPr/>
            <a:lstStyle/>
            <a:p>
              <a:endParaRPr lang="en-IN">
                <a:latin typeface="Arial" panose="020B0604020202020204" pitchFamily="34" charset="0"/>
                <a:cs typeface="Arial" panose="020B0604020202020204" pitchFamily="34" charset="0"/>
              </a:endParaRPr>
            </a:p>
          </p:txBody>
        </p:sp>
        <p:sp>
          <p:nvSpPr>
            <p:cNvPr id="4" name="TextBox 4"/>
            <p:cNvSpPr txBox="1"/>
            <p:nvPr/>
          </p:nvSpPr>
          <p:spPr>
            <a:xfrm>
              <a:off x="0" y="66675"/>
              <a:ext cx="21031200" cy="1321585"/>
            </a:xfrm>
            <a:prstGeom prst="rect">
              <a:avLst/>
            </a:prstGeom>
          </p:spPr>
          <p:txBody>
            <a:bodyPr lIns="0" tIns="0" rIns="0" bIns="0" rtlCol="0" anchor="ctr"/>
            <a:lstStyle/>
            <a:p>
              <a:pPr algn="ctr">
                <a:lnSpc>
                  <a:spcPts val="5184"/>
                </a:lnSpc>
              </a:pPr>
              <a:r>
                <a:rPr lang="en-US" sz="4000" b="1" dirty="0">
                  <a:solidFill>
                    <a:srgbClr val="000000"/>
                  </a:solidFill>
                  <a:latin typeface="Arial" panose="020B0604020202020204" pitchFamily="34" charset="0"/>
                  <a:ea typeface="Canva Sans Bold"/>
                  <a:cs typeface="Arial" panose="020B0604020202020204" pitchFamily="34" charset="0"/>
                  <a:sym typeface="Canva Sans Bold"/>
                </a:rPr>
                <a:t>References</a:t>
              </a:r>
            </a:p>
          </p:txBody>
        </p:sp>
      </p:grpSp>
      <p:sp>
        <p:nvSpPr>
          <p:cNvPr id="5" name="TextBox 5"/>
          <p:cNvSpPr txBox="1"/>
          <p:nvPr/>
        </p:nvSpPr>
        <p:spPr>
          <a:xfrm>
            <a:off x="76200" y="800100"/>
            <a:ext cx="18288000" cy="7748211"/>
          </a:xfrm>
          <a:prstGeom prst="rect">
            <a:avLst/>
          </a:prstGeom>
        </p:spPr>
        <p:txBody>
          <a:bodyPr wrap="square" lIns="0" tIns="0" rIns="0" bIns="0" rtlCol="0" anchor="t">
            <a:spAutoFit/>
          </a:bodyPr>
          <a:lstStyle/>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Bello, A., &amp; Olufemi, K. (2024). Artificial intelligence in fraud prevention: Exploring techniques and applications 	challenges and  	opportunities. Computer Science &amp; IT Research Journal, 5(6), 1505–1520.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3"/>
              </a:rPr>
              <a:t>https://doi.org/10.51594/csitrj.v5i6.1252</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Cheng, C. (2025). Research on Fraudulent Transaction Detection. Applied and Computational Engineering, 158(1), 35–	40.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4"/>
              </a:rPr>
              <a:t>https://doi.org/10.54254/2755-2721/2025.tj23322</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Gupta, R., Jindal, R., Naik, A., &amp; Tripathi, A. (2025). Applying Logistic Regression for the Detection of Fraudulent 	Banking 	Transactions. ResearchGate, 47(02).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5"/>
              </a:rPr>
              <a:t>https://www.researchgate.net/publication/392331388_Applying_Logistic_Regression_for_the_Detection_of_Fraud</a:t>
            </a:r>
            <a:r>
              <a:rPr lang="en-US" sz="2500" dirty="0">
                <a:solidFill>
                  <a:srgbClr val="000000"/>
                </a:solidFill>
                <a:latin typeface="Arial" panose="020B0604020202020204" pitchFamily="34" charset="0"/>
                <a:ea typeface="Canva Sans"/>
                <a:cs typeface="Arial" panose="020B0604020202020204" pitchFamily="34" charset="0"/>
                <a:sym typeface="Canva Sans"/>
              </a:rPr>
              <a:t>	</a:t>
            </a:r>
            <a:r>
              <a:rPr lang="en-US" sz="2500" dirty="0" err="1">
                <a:solidFill>
                  <a:srgbClr val="000000"/>
                </a:solidFill>
                <a:latin typeface="Arial" panose="020B0604020202020204" pitchFamily="34" charset="0"/>
                <a:ea typeface="Canva Sans"/>
                <a:cs typeface="Arial" panose="020B0604020202020204" pitchFamily="34" charset="0"/>
                <a:sym typeface="Canva Sans"/>
              </a:rPr>
              <a:t>ulent_Banking_Transactions</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Hareram, S. E. (2025). Technical Review: Apache Spark and PySpark for Distributed Data Processing. ResearchGate.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6"/>
              </a:rPr>
              <a:t>https://doi.org/10.5281/zenodo.16491755</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Owen, A., Emma, O., &amp; Adams, R. (2024, October 7). Evaluating the Role of Class Imbalance in Fraud Detection 	Algorithms. 	ResearchGate; unknown.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7"/>
              </a:rPr>
              <a:t>https://www.researchgate.net/publication/388817710_Evaluating_the_Role_of_Class_Imbalance_in_Fraud_Detecti</a:t>
            </a:r>
            <a:r>
              <a:rPr lang="en-US" sz="2500" dirty="0">
                <a:solidFill>
                  <a:srgbClr val="000000"/>
                </a:solidFill>
                <a:latin typeface="Arial" panose="020B0604020202020204" pitchFamily="34" charset="0"/>
                <a:ea typeface="Canva Sans"/>
                <a:cs typeface="Arial" panose="020B0604020202020204" pitchFamily="34" charset="0"/>
                <a:sym typeface="Canva Sans"/>
              </a:rPr>
              <a:t>	</a:t>
            </a:r>
            <a:r>
              <a:rPr lang="en-US" sz="2500" dirty="0" err="1">
                <a:solidFill>
                  <a:srgbClr val="000000"/>
                </a:solidFill>
                <a:latin typeface="Arial" panose="020B0604020202020204" pitchFamily="34" charset="0"/>
                <a:ea typeface="Canva Sans"/>
                <a:cs typeface="Arial" panose="020B0604020202020204" pitchFamily="34" charset="0"/>
                <a:sym typeface="Canva Sans"/>
              </a:rPr>
              <a:t>on_Algorithms</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3750"/>
              </a:lnSpc>
            </a:pPr>
            <a:r>
              <a:rPr lang="en-US" sz="2500" dirty="0">
                <a:solidFill>
                  <a:srgbClr val="000000"/>
                </a:solidFill>
                <a:latin typeface="Arial" panose="020B0604020202020204" pitchFamily="34" charset="0"/>
                <a:ea typeface="Canva Sans"/>
                <a:cs typeface="Arial" panose="020B0604020202020204" pitchFamily="34" charset="0"/>
                <a:sym typeface="Canva Sans"/>
              </a:rPr>
              <a:t>Wiltshire, D., &amp; Alvanides, S. (2022). Ensuring the ethical use of Big Data: lessons from secure data access. Heliyon, 8(2). 	</a:t>
            </a:r>
            <a:r>
              <a:rPr lang="en-US" sz="2500" dirty="0">
                <a:solidFill>
                  <a:srgbClr val="000000"/>
                </a:solidFill>
                <a:latin typeface="Arial" panose="020B0604020202020204" pitchFamily="34" charset="0"/>
                <a:ea typeface="Canva Sans"/>
                <a:cs typeface="Arial" panose="020B0604020202020204" pitchFamily="34" charset="0"/>
                <a:sym typeface="Canva Sans"/>
                <a:hlinkClick r:id="rId8"/>
              </a:rPr>
              <a:t>https://doi.org/10.1016/j.heliyon.2022.e08981</a:t>
            </a:r>
            <a:endParaRPr lang="en-US" sz="2500" dirty="0">
              <a:solidFill>
                <a:srgbClr val="000000"/>
              </a:solidFill>
              <a:latin typeface="Arial" panose="020B0604020202020204" pitchFamily="34" charset="0"/>
              <a:ea typeface="Canva Sans"/>
              <a:cs typeface="Arial" panose="020B0604020202020204" pitchFamily="34" charset="0"/>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2938</Words>
  <Application>Microsoft Office PowerPoint</Application>
  <PresentationFormat>Custom</PresentationFormat>
  <Paragraphs>217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Canva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tarun</dc:title>
  <cp:lastModifiedBy>dell</cp:lastModifiedBy>
  <cp:revision>7</cp:revision>
  <dcterms:created xsi:type="dcterms:W3CDTF">2006-08-16T00:00:00Z</dcterms:created>
  <dcterms:modified xsi:type="dcterms:W3CDTF">2026-08-10T07:51:30Z</dcterms:modified>
  <dc:identifier>DAHH1hewfrY</dc:identifier>
</cp:coreProperties>
</file>