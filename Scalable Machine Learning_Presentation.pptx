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274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685800"/>
            <a:ext cx="11155680" cy="1417320"/>
          </a:xfrm>
          <a:prstGeom prst="round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932688"/>
            <a:ext cx="10607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900" b="0">
                <a:solidFill>
                  <a:srgbClr val="FFFFFF"/>
                </a:solidFill>
                <a:latin typeface="Arial Narrow"/>
              </a:defRPr>
            </a:pPr>
            <a:r>
              <a:t>Research on Scalable Machine Learning for Fraud Detection using Big Data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231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232323"/>
                </a:solidFill>
                <a:latin typeface="Arial Narrow"/>
              </a:defRPr>
            </a:pPr>
            <a:r>
              <a:t>MSc Big Data Analytics: Research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063240"/>
            <a:ext cx="850392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0">
                <a:solidFill>
                  <a:srgbClr val="232323"/>
                </a:solidFill>
                <a:latin typeface="Arial"/>
              </a:defRPr>
            </a:pPr>
            <a:r>
              <a:rPr lang="en-US" dirty="0"/>
              <a:t>Tarun Singuluri</a:t>
            </a:r>
          </a:p>
          <a:p>
            <a:pPr algn="ctr">
              <a:defRPr sz="2000" b="0">
                <a:solidFill>
                  <a:srgbClr val="232323"/>
                </a:solidFill>
                <a:latin typeface="Arial"/>
              </a:defRPr>
            </a:pPr>
            <a:r>
              <a:rPr lang="en-US"/>
              <a:t>c4064048@hallam.shu.ac.uk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828800" y="3703320"/>
            <a:ext cx="8503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5F5F5F"/>
                </a:solidFill>
                <a:latin typeface="Arial"/>
              </a:defRPr>
            </a:pPr>
            <a:r>
              <a:t>School of Computing and Digital Technologies</a:t>
            </a:r>
            <a:br/>
            <a:r>
              <a:t>College of Business, Technology and Engineering (BTE)</a:t>
            </a:r>
            <a:br/>
            <a:r>
              <a:t>Sheffield Hallam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4983480"/>
            <a:ext cx="3383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>
                <a:solidFill>
                  <a:srgbClr val="5F5F5F"/>
                </a:solidFill>
                <a:latin typeface="Arial"/>
              </a:defRPr>
            </a:pPr>
            <a:r>
              <a:t>September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5288280" y="6623546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SCALABLE FRAUD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84002" y="6601968"/>
            <a:ext cx="1107997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</a:t>
            </a:r>
            <a:r>
              <a:rPr lang="en-US" dirty="0"/>
              <a:t>   1</a:t>
            </a:r>
            <a:r>
              <a:rPr dirty="0"/>
              <a:t> </a:t>
            </a:r>
          </a:p>
        </p:txBody>
      </p:sp>
      <p:pic>
        <p:nvPicPr>
          <p:cNvPr id="12" name="object 2">
            <a:extLst>
              <a:ext uri="{FF2B5EF4-FFF2-40B4-BE49-F238E27FC236}">
                <a16:creationId xmlns:a16="http://schemas.microsoft.com/office/drawing/2014/main" id="{1784E09C-78EF-23E5-CDA1-1025BD05F59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Acknowledgements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957916" y="6629400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9996" y="6601968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t>September 2026  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1417320"/>
            <a:ext cx="9210575" cy="4726806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60120" y="1417319"/>
            <a:ext cx="9066197" cy="392457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7280" y="1481328"/>
            <a:ext cx="8929037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Project Support Recognition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231042"/>
            <a:ext cx="8791876" cy="31700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just"/>
            <a:r>
              <a:rPr lang="en-US" sz="2000" dirty="0"/>
              <a:t>I would like to express my sincere gratitude to my </a:t>
            </a:r>
            <a:r>
              <a:rPr lang="en-US" sz="2000" b="1" dirty="0"/>
              <a:t>academic supervisor</a:t>
            </a:r>
            <a:r>
              <a:rPr lang="en-US" sz="2000" dirty="0"/>
              <a:t> for their valuable guidance, constructive feedback and continuous support throughout this research project. I am also grateful to </a:t>
            </a:r>
            <a:r>
              <a:rPr lang="en-US" sz="2000" b="1" dirty="0"/>
              <a:t>Sheffield Hallam University</a:t>
            </a:r>
            <a:r>
              <a:rPr lang="en-US" sz="2000" dirty="0"/>
              <a:t> and the </a:t>
            </a:r>
            <a:r>
              <a:rPr lang="en-US" sz="2000" b="1" dirty="0"/>
              <a:t>School of Computing and Digital Technologies</a:t>
            </a:r>
            <a:r>
              <a:rPr lang="en-US" sz="2000" dirty="0"/>
              <a:t> for providing the academic environment, technical resources and facilities required to complete this work.</a:t>
            </a:r>
          </a:p>
          <a:p>
            <a:pPr algn="just"/>
            <a:r>
              <a:rPr lang="en-US" sz="2000" dirty="0"/>
              <a:t>I would also like to acknowledge the availability of the </a:t>
            </a:r>
            <a:r>
              <a:rPr lang="en-US" sz="2000" b="1" dirty="0"/>
              <a:t>secondary financial transaction dataset</a:t>
            </a:r>
            <a:r>
              <a:rPr lang="en-US" sz="2000" dirty="0"/>
              <a:t>, which provided the foundation for the data analysis, machine-learning implementation and evaluation conducted in this research. Finally, I appreciate the support and resources that contributed to the successful development and completion of this project.</a:t>
            </a:r>
          </a:p>
        </p:txBody>
      </p:sp>
      <p:pic>
        <p:nvPicPr>
          <p:cNvPr id="13" name="object 2">
            <a:extLst>
              <a:ext uri="{FF2B5EF4-FFF2-40B4-BE49-F238E27FC236}">
                <a16:creationId xmlns:a16="http://schemas.microsoft.com/office/drawing/2014/main" id="{68EEE69B-807E-DF3D-8627-FD333A62D1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97960" y="5357742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Presentation Agenda 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898923" y="6601968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319" y="6601968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t>September 2026  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34440"/>
            <a:ext cx="98755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8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dirty="0"/>
              <a:t>1. Introduction</a:t>
            </a:r>
          </a:p>
          <a:p>
            <a:pPr>
              <a:lnSpc>
                <a:spcPct val="100000"/>
              </a:lnSpc>
              <a:spcAft>
                <a:spcPts val="18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dirty="0"/>
              <a:t>2. Literature Review</a:t>
            </a:r>
          </a:p>
          <a:p>
            <a:pPr>
              <a:lnSpc>
                <a:spcPct val="100000"/>
              </a:lnSpc>
              <a:spcAft>
                <a:spcPts val="18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dirty="0"/>
              <a:t>3. Research Methodology</a:t>
            </a:r>
          </a:p>
          <a:p>
            <a:pPr>
              <a:lnSpc>
                <a:spcPct val="100000"/>
              </a:lnSpc>
              <a:spcAft>
                <a:spcPts val="18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dirty="0"/>
              <a:t>4. Ethics</a:t>
            </a:r>
          </a:p>
          <a:p>
            <a:pPr>
              <a:lnSpc>
                <a:spcPct val="100000"/>
              </a:lnSpc>
              <a:spcAft>
                <a:spcPts val="18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dirty="0"/>
              <a:t>5. Implementation</a:t>
            </a:r>
          </a:p>
        </p:txBody>
      </p:sp>
      <p:pic>
        <p:nvPicPr>
          <p:cNvPr id="9" name="object 2">
            <a:extLst>
              <a:ext uri="{FF2B5EF4-FFF2-40B4-BE49-F238E27FC236}">
                <a16:creationId xmlns:a16="http://schemas.microsoft.com/office/drawing/2014/main" id="{B5B68E4E-D1E4-188B-7143-170DBD109C3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Presentation Agenda II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4889090" y="6601968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319" y="6601968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t>September 2026  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234440"/>
            <a:ext cx="9875520" cy="27084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18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dirty="0"/>
              <a:t>6. Results</a:t>
            </a:r>
          </a:p>
          <a:p>
            <a:pPr>
              <a:lnSpc>
                <a:spcPct val="100000"/>
              </a:lnSpc>
              <a:spcAft>
                <a:spcPts val="18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dirty="0"/>
              <a:t>7. Evaluation</a:t>
            </a:r>
          </a:p>
          <a:p>
            <a:pPr>
              <a:lnSpc>
                <a:spcPct val="100000"/>
              </a:lnSpc>
              <a:spcAft>
                <a:spcPts val="18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dirty="0"/>
              <a:t>8. Conclusion</a:t>
            </a:r>
          </a:p>
          <a:p>
            <a:pPr>
              <a:lnSpc>
                <a:spcPct val="100000"/>
              </a:lnSpc>
              <a:spcAft>
                <a:spcPts val="18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dirty="0"/>
              <a:t>9. References</a:t>
            </a:r>
          </a:p>
          <a:p>
            <a:pPr>
              <a:lnSpc>
                <a:spcPct val="100000"/>
              </a:lnSpc>
              <a:spcAft>
                <a:spcPts val="1800"/>
              </a:spcAft>
              <a:defRPr sz="2200">
                <a:solidFill>
                  <a:srgbClr val="232323"/>
                </a:solidFill>
                <a:latin typeface="Arial"/>
              </a:defRPr>
            </a:pPr>
            <a:r>
              <a:rPr dirty="0"/>
              <a:t>10. AI Declaration</a:t>
            </a:r>
          </a:p>
        </p:txBody>
      </p:sp>
      <p:pic>
        <p:nvPicPr>
          <p:cNvPr id="9" name="object 2">
            <a:extLst>
              <a:ext uri="{FF2B5EF4-FFF2-40B4-BE49-F238E27FC236}">
                <a16:creationId xmlns:a16="http://schemas.microsoft.com/office/drawing/2014/main" id="{A0CACB84-A28D-F1AE-1169-7C6B409E3B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Introduction: Problem, Context &amp; Rationale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892040" y="6620256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6480" y="6616520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t>September 2026   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51560"/>
            <a:ext cx="3474720" cy="155448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347472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115568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27048"/>
            <a:ext cx="320040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Arial"/>
              </a:defRPr>
            </a:pPr>
            <a:r>
              <a:rPr dirty="0"/>
              <a:t>Rapid growth in online transactions creates high-volume, high-velocity and varied financial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051560"/>
            <a:ext cx="3474720" cy="155448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70832" y="1051560"/>
            <a:ext cx="3474720" cy="34747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07992" y="1115568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Complication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07992" y="1527048"/>
            <a:ext cx="320040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Arial"/>
              </a:defRPr>
            </a:pPr>
            <a:r>
              <a:t>Rule-based and manual methods struggle with complex fraud patterns, scale and highly imbalanced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1583" y="1051560"/>
            <a:ext cx="3474720" cy="155448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01583" y="1051560"/>
            <a:ext cx="3474720" cy="347472"/>
          </a:xfrm>
          <a:prstGeom prst="rect">
            <a:avLst/>
          </a:prstGeom>
          <a:solidFill>
            <a:srgbClr val="3C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38744" y="1115568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1527048"/>
            <a:ext cx="3200400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Arial"/>
              </a:defRPr>
            </a:pPr>
            <a:r>
              <a:t>Use PySpark distributed processing with ML models to compare predictive performance and computational efficiency.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06324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A003B"/>
                </a:solidFill>
                <a:latin typeface="Arial Narrow"/>
              </a:defRPr>
            </a:pPr>
            <a:r>
              <a:t>Why this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347472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rPr dirty="0"/>
              <a:t>• Financial institutions need accurate detection without unacceptable processing cost.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rPr dirty="0"/>
              <a:t>• Tree-based models can capture complex patterns, but may require more computation.</a:t>
            </a:r>
          </a:p>
          <a:p>
            <a:pPr>
              <a:lnSpc>
                <a:spcPct val="100000"/>
              </a:lnSpc>
              <a:spcAft>
                <a:spcPts val="800"/>
              </a:spcAft>
              <a:defRPr sz="1600">
                <a:solidFill>
                  <a:srgbClr val="232323"/>
                </a:solidFill>
                <a:latin typeface="Arial"/>
              </a:defRPr>
            </a:pPr>
            <a:r>
              <a:rPr dirty="0"/>
              <a:t>• The project therefore treats scalability and efficiency as first-class evaluation criteria.</a:t>
            </a:r>
          </a:p>
        </p:txBody>
      </p:sp>
      <p:pic>
        <p:nvPicPr>
          <p:cNvPr id="24" name="object 2">
            <a:extLst>
              <a:ext uri="{FF2B5EF4-FFF2-40B4-BE49-F238E27FC236}">
                <a16:creationId xmlns:a16="http://schemas.microsoft.com/office/drawing/2014/main" id="{98A0D5C1-1B5B-3749-5E2E-0B2BAC06464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Aim, Objectives, Research Questions &amp; Deliverable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INTRODUCTION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810432" y="6620256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20" y="6620256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960120"/>
            <a:ext cx="10972800" cy="123444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960120"/>
            <a:ext cx="10972800" cy="34747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024128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435608"/>
            <a:ext cx="106984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232323"/>
                </a:solidFill>
                <a:latin typeface="Arial"/>
              </a:defRPr>
            </a:pPr>
            <a:r>
              <a:t>Develop and evaluate a scalable and efficient fraud detection framework using PySpark-based ML models for large-scale financial transaction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A003B"/>
                </a:solidFill>
                <a:latin typeface="Arial Narrow"/>
              </a:defRPr>
            </a:pPr>
            <a:r>
              <a:t>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788920"/>
            <a:ext cx="5349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Preprocess and optimise the dataset using PySpark.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Develop and compare Logistic Regression, Random Forest and Gradient Boosted Trees.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Evaluate using precision, recall, F1-score, ROC-AUC and confusion matrices.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Analyse scalability, processing efficiency and real-time performance.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423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E69AE"/>
                </a:solidFill>
                <a:latin typeface="Arial Narrow"/>
              </a:defRPr>
            </a:pPr>
            <a:r>
              <a:t>Research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2788920"/>
            <a:ext cx="5074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What are the benefits of combining scalable ML with big-data technologies for fraud detection?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Which algorithm performs best when implemented with big-data technologies?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What impact do big-data frameworks have on computational performance, scalability and processing time?</a:t>
            </a:r>
          </a:p>
        </p:txBody>
      </p:sp>
      <p:pic>
        <p:nvPicPr>
          <p:cNvPr id="18" name="object 2">
            <a:extLst>
              <a:ext uri="{FF2B5EF4-FFF2-40B4-BE49-F238E27FC236}">
                <a16:creationId xmlns:a16="http://schemas.microsoft.com/office/drawing/2014/main" id="{F58D1C71-6B77-D901-1A7E-D5FC8457E46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Literature Review: Themes, Contrasts &amp; Research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LITERATURE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928615" y="6623546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19" y="6623546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051560"/>
            <a:ext cx="3566160" cy="182880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051560"/>
            <a:ext cx="356616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1115568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Theme 1 — ML for Fraud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527048"/>
            <a:ext cx="3291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Logistic Regression offers simplicity and interpretability; Random Forest and Gradient Boosted Trees model more complex relationships.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1051560"/>
            <a:ext cx="3566160" cy="182880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051560"/>
            <a:ext cx="3566160" cy="347472"/>
          </a:xfrm>
          <a:prstGeom prst="rect">
            <a:avLst/>
          </a:prstGeom>
          <a:solidFill>
            <a:srgbClr val="3C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3128" y="1115568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Theme 2 — Big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527048"/>
            <a:ext cx="3291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Apache Spark/PySpark supports partitioned, parallel processing and structured ML pipelines for large datasets.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1051560"/>
            <a:ext cx="3566160" cy="182880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37575" y="1051560"/>
            <a:ext cx="3566160" cy="34747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74736" y="1115568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Theme 3 — Imbalance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4736" y="1527048"/>
            <a:ext cx="32918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Fraud is a minority class; accuracy alone can be misleading, making recall, precision, F1 and ROC-AUC important.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2461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A003B"/>
                </a:solidFill>
                <a:latin typeface="Arial Narrow"/>
              </a:defRPr>
            </a:pPr>
            <a:r>
              <a:t>Critical contrast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3200400"/>
            <a:ext cx="6675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32323"/>
                </a:solidFill>
                <a:latin typeface="Arial Narrow"/>
              </a:defRPr>
            </a:pPr>
            <a:r>
              <a:t>Higher predictive power ↔ higher computational cost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977639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E69AE"/>
                </a:solidFill>
                <a:latin typeface="Arial Narrow"/>
              </a:defRPr>
            </a:pPr>
            <a:r>
              <a:t>Research gap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43400"/>
            <a:ext cx="10515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Limited comparison of fraud models in PySpark that simultaneously considers predictive performance, processing efficiency and scalability.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The project therefore compares three models under a common distributed framework rather than selecting a model by accuracy alone.</a:t>
            </a:r>
          </a:p>
        </p:txBody>
      </p:sp>
      <p:pic>
        <p:nvPicPr>
          <p:cNvPr id="26" name="object 2">
            <a:extLst>
              <a:ext uri="{FF2B5EF4-FFF2-40B4-BE49-F238E27FC236}">
                <a16:creationId xmlns:a16="http://schemas.microsoft.com/office/drawing/2014/main" id="{CAEAF7D9-0716-C86B-055D-2AEC1078A3F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3680" y="5335524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Research Methodology: Design &amp;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663440" y="6601968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68782" y="6620256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t>September 2026   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51560"/>
            <a:ext cx="18288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143000"/>
            <a:ext cx="1682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2E69AE"/>
                </a:solidFill>
                <a:latin typeface="Arial Narrow"/>
              </a:defRPr>
            </a:pPr>
            <a:r>
              <a:t>Secondary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1581912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data source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80" y="1051560"/>
            <a:ext cx="18288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70632" y="1143000"/>
            <a:ext cx="1682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9A003B"/>
                </a:solidFill>
                <a:latin typeface="Arial Narrow"/>
              </a:defRPr>
            </a:pPr>
            <a:r>
              <a:t>590,540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70632" y="1581912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merged records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54880" y="1051560"/>
            <a:ext cx="18288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8032" y="1143000"/>
            <a:ext cx="1682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3C8750"/>
                </a:solidFill>
                <a:latin typeface="Arial Narrow"/>
              </a:defRPr>
            </a:pPr>
            <a:r>
              <a:t>80/20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581912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train/test split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12280" y="1051560"/>
            <a:ext cx="18288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85432" y="1143000"/>
            <a:ext cx="1682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2E69AE"/>
                </a:solidFill>
                <a:latin typeface="Arial Narrow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1581912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ML algorithms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051560"/>
            <a:ext cx="182880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42832" y="1143000"/>
            <a:ext cx="16824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9A003B"/>
                </a:solidFill>
                <a:latin typeface="Arial Narrow"/>
              </a:defRPr>
            </a:pPr>
            <a:r>
              <a:t>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42832" y="1581912"/>
            <a:ext cx="168249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core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331720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A003B"/>
                </a:solidFill>
                <a:latin typeface="Arial Narrow"/>
              </a:defRPr>
            </a:pPr>
            <a:r>
              <a:t>Methodological structure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2697480"/>
            <a:ext cx="548640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Quantitative, computational evaluation using a secondary financial transaction dataset.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Comparative experimental design: the same processed dataset and evaluation criteria are used across three PySpark models.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Distributed implementation: PySpark + Spark MLlib, with feature transformation and model evaluation in a structured pipeline.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Multi-metric assessment is justified by the severe class imbalance.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3317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E69AE"/>
                </a:solidFill>
                <a:latin typeface="Arial Narrow"/>
              </a:defRPr>
            </a:pPr>
            <a:r>
              <a:t>Why this approach?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46520" y="2743200"/>
            <a:ext cx="4754880" cy="150876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46520" y="2743200"/>
            <a:ext cx="475488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2807208"/>
            <a:ext cx="4480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Alternative considered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218688"/>
            <a:ext cx="4480560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A single-machine / accuracy-only comparison would not directly test the project's scalability and efficiency objectives.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46520" y="4480560"/>
            <a:ext cx="4754880" cy="123444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46520" y="4480560"/>
            <a:ext cx="4754880" cy="347472"/>
          </a:xfrm>
          <a:prstGeom prst="rect">
            <a:avLst/>
          </a:prstGeom>
          <a:solidFill>
            <a:srgbClr val="3C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4544568"/>
            <a:ext cx="44805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Alignment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956048"/>
            <a:ext cx="4480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rPr dirty="0"/>
              <a:t>The method directly maps to the aim: preprocess → model → evaluate → measure computational cost and scalability.</a:t>
            </a:r>
          </a:p>
        </p:txBody>
      </p:sp>
      <p:pic>
        <p:nvPicPr>
          <p:cNvPr id="35" name="object 2">
            <a:extLst>
              <a:ext uri="{FF2B5EF4-FFF2-40B4-BE49-F238E27FC236}">
                <a16:creationId xmlns:a16="http://schemas.microsoft.com/office/drawing/2014/main" id="{D62FD6DC-B4B9-C869-664E-7464A06186F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35120" y="5724144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Ethics: Governance, Data &amp; Risk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ETHICS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924747" y="661111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6480" y="6620256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05840"/>
            <a:ext cx="3474720" cy="16459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347472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069848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Data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81328"/>
            <a:ext cx="3200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Secondary data: IEEE-CIS Fraud Detection dataset accessed through Kaggle. No participant recruitment was required for the practical analysis.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005840"/>
            <a:ext cx="3474720" cy="16459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61688" y="1005840"/>
            <a:ext cx="3474720" cy="34747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98848" y="1069848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Ethics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481328"/>
            <a:ext cx="3200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The dissertation includes a UREC2 low-risk research ethics proforma. The form records 'No' responses to participant-risk screening questions.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1005840"/>
            <a:ext cx="3474720" cy="16459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83296" y="1005840"/>
            <a:ext cx="3474720" cy="347472"/>
          </a:xfrm>
          <a:prstGeom prst="rect">
            <a:avLst/>
          </a:prstGeom>
          <a:solidFill>
            <a:srgbClr val="3C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0456" y="1069848"/>
            <a:ext cx="3200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Data protection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0456" y="1481328"/>
            <a:ext cx="320040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Ethical considerations include responsible handling of financial data, privacy, secure storage and avoidance of biased fraud predictions.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15468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A003B"/>
                </a:solidFill>
                <a:latin typeface="Arial Narrow"/>
              </a:defRPr>
            </a:pPr>
            <a:r>
              <a:t>Project risks and mitigations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566160"/>
            <a:ext cx="6400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Class imbalance → fraud-class weighting.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Data-quality / missing values → explicit preprocessing and categorical encoding.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Computational constraints → PySpark distributed processing and training-time measurement.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Reproducibility / code loss → systematic documentation and GitHub version control.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43800" y="3154680"/>
            <a:ext cx="2926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E69AE"/>
                </a:solidFill>
                <a:latin typeface="Arial Narrow"/>
              </a:defRPr>
            </a:pPr>
            <a:r>
              <a:t>GDPR / ethical principles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0" y="3566160"/>
            <a:ext cx="3840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Privacy and responsible data handling.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Secure data management.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Avoidance of biased fraud predictions.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No human-participant data collection in the implementation.</a:t>
            </a:r>
          </a:p>
        </p:txBody>
      </p:sp>
      <p:pic>
        <p:nvPicPr>
          <p:cNvPr id="25" name="object 2">
            <a:extLst>
              <a:ext uri="{FF2B5EF4-FFF2-40B4-BE49-F238E27FC236}">
                <a16:creationId xmlns:a16="http://schemas.microsoft.com/office/drawing/2014/main" id="{BF5C8046-CC15-0F70-1BB0-F91463DEE35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Implementation: System Architecture &amp; Development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928615" y="661111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19" y="6623005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1170432" cy="960120"/>
          </a:xfrm>
          <a:prstGeom prst="roundRect">
            <a:avLst/>
          </a:prstGeom>
          <a:solidFill>
            <a:srgbClr val="9A00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30352" y="1581912"/>
            <a:ext cx="11155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Narrow"/>
              </a:defRPr>
            </a:pPr>
            <a:r>
              <a:t>Dataset</a:t>
            </a:r>
            <a:br/>
            <a:r>
              <a:t>Acquisition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737360"/>
            <a:ext cx="109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5F5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83080" y="1417320"/>
            <a:ext cx="1170432" cy="960120"/>
          </a:xfrm>
          <a:prstGeom prst="roundRect">
            <a:avLst/>
          </a:prstGeom>
          <a:solidFill>
            <a:srgbClr val="E8F1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810512" y="1581912"/>
            <a:ext cx="11155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  <a:latin typeface="Arial Narrow"/>
              </a:defRPr>
            </a:pPr>
            <a:r>
              <a:t>Data</a:t>
            </a:r>
            <a:br/>
            <a:r>
              <a:t>Loading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1737360"/>
            <a:ext cx="109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5F5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39" y="1417320"/>
            <a:ext cx="1170432" cy="960120"/>
          </a:xfrm>
          <a:prstGeom prst="roundRect">
            <a:avLst/>
          </a:prstGeom>
          <a:solidFill>
            <a:srgbClr val="E8F1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90671" y="1581912"/>
            <a:ext cx="11155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  <a:latin typeface="Arial Narrow"/>
              </a:defRPr>
            </a:pPr>
            <a:r>
              <a:t>Data</a:t>
            </a:r>
            <a:br/>
            <a:r>
              <a:t>Inspection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33672" y="1737360"/>
            <a:ext cx="109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5F5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399" y="1417320"/>
            <a:ext cx="1170432" cy="960120"/>
          </a:xfrm>
          <a:prstGeom prst="roundRect">
            <a:avLst/>
          </a:prstGeom>
          <a:solidFill>
            <a:srgbClr val="E8F1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1" y="1581912"/>
            <a:ext cx="11155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  <a:latin typeface="Arial Narrow"/>
              </a:defRPr>
            </a:pPr>
            <a:r>
              <a:t>Data</a:t>
            </a:r>
            <a:br/>
            <a:r>
              <a:t>Preprocessing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13831" y="1737360"/>
            <a:ext cx="109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5F5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59" y="1417320"/>
            <a:ext cx="1170432" cy="960120"/>
          </a:xfrm>
          <a:prstGeom prst="roundRect">
            <a:avLst/>
          </a:prstGeom>
          <a:solidFill>
            <a:srgbClr val="E8F1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50992" y="1581912"/>
            <a:ext cx="11155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  <a:latin typeface="Arial Narrow"/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1737360"/>
            <a:ext cx="109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5F5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03720" y="1417320"/>
            <a:ext cx="1170432" cy="960120"/>
          </a:xfrm>
          <a:prstGeom prst="roundRect">
            <a:avLst/>
          </a:prstGeom>
          <a:solidFill>
            <a:srgbClr val="E8F1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31152" y="1581912"/>
            <a:ext cx="11155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2323"/>
                </a:solidFill>
                <a:latin typeface="Arial Narrow"/>
              </a:defRPr>
            </a:pPr>
            <a:r>
              <a:t>Exploratory</a:t>
            </a:r>
            <a:br/>
            <a:r>
              <a:t>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74152" y="1737360"/>
            <a:ext cx="109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5F5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1417320"/>
            <a:ext cx="1170432" cy="960120"/>
          </a:xfrm>
          <a:prstGeom prst="roundRect">
            <a:avLst/>
          </a:prstGeom>
          <a:solidFill>
            <a:srgbClr val="9A00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211311" y="1581912"/>
            <a:ext cx="11155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Narrow"/>
              </a:defRPr>
            </a:pPr>
            <a:r>
              <a:t>Model</a:t>
            </a:r>
            <a:br/>
            <a:r>
              <a:t>Training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54311" y="1737360"/>
            <a:ext cx="109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5F5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1417320"/>
            <a:ext cx="1170432" cy="960120"/>
          </a:xfrm>
          <a:prstGeom prst="roundRect">
            <a:avLst/>
          </a:prstGeom>
          <a:solidFill>
            <a:srgbClr val="2E69A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91472" y="1581912"/>
            <a:ext cx="11155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Narrow"/>
              </a:defRPr>
            </a:pPr>
            <a:r>
              <a:t>Model</a:t>
            </a:r>
            <a:br/>
            <a: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4472" y="1737360"/>
            <a:ext cx="109728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5F5F5F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744200" y="1417320"/>
            <a:ext cx="1170432" cy="960120"/>
          </a:xfrm>
          <a:prstGeom prst="roundRect">
            <a:avLst/>
          </a:prstGeom>
          <a:solidFill>
            <a:srgbClr val="9A00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771632" y="1581912"/>
            <a:ext cx="111556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 Narrow"/>
              </a:defRPr>
            </a:pPr>
            <a:r>
              <a:t>Scalability</a:t>
            </a:r>
            <a:br/>
            <a:r>
              <a:t>Analysis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9718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A003B"/>
                </a:solidFill>
                <a:latin typeface="Arial Narrow"/>
              </a:defRPr>
            </a:pPr>
            <a:r>
              <a:t>Low-level implementation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383280"/>
            <a:ext cx="658368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49 numerical + 15 categorical features selected.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Missing numerical values replaced with a sentinel; categorical missing values coded as a separate category.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StringIndexer + OneHotEncoder → VectorAssembler.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Class weighting assigns greater weight to the fraud class.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PySpark + Spark MLlib provide the distributed processing and modelling environment.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635240" y="3154680"/>
            <a:ext cx="3657600" cy="169164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635240" y="3154680"/>
            <a:ext cx="365760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772400" y="3218688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Model set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3630168"/>
            <a:ext cx="33832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Arial"/>
              </a:defRPr>
            </a:pPr>
            <a:r>
              <a:t>Logistic Regression</a:t>
            </a:r>
            <a:br/>
            <a:r>
              <a:t>Random Forest</a:t>
            </a:r>
            <a:br/>
            <a:r>
              <a:t>Gradient Boosted Trees</a:t>
            </a:r>
          </a:p>
        </p:txBody>
      </p:sp>
      <p:pic>
        <p:nvPicPr>
          <p:cNvPr id="42" name="object 2">
            <a:extLst>
              <a:ext uri="{FF2B5EF4-FFF2-40B4-BE49-F238E27FC236}">
                <a16:creationId xmlns:a16="http://schemas.microsoft.com/office/drawing/2014/main" id="{FFAFD6A8-1D49-8F23-4FD8-01FF339265F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Implementation: Data Preparation &amp; Model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lang="en-IN" dirty="0"/>
              <a:t>TS(SHU)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709160" y="6601968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20" y="6620256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960120"/>
            <a:ext cx="196596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051560"/>
            <a:ext cx="1819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9A003B"/>
                </a:solidFill>
                <a:latin typeface="Arial Narrow"/>
              </a:defRPr>
            </a:pPr>
            <a:r>
              <a:t>434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1490472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columns after join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960120"/>
            <a:ext cx="196596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1051560"/>
            <a:ext cx="1819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2E69AE"/>
                </a:solidFill>
                <a:latin typeface="Arial Narrow"/>
              </a:defRPr>
            </a:pPr>
            <a:r>
              <a:t>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07792" y="1490472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selected features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960120"/>
            <a:ext cx="196596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1051560"/>
            <a:ext cx="1819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3C8750"/>
                </a:solidFill>
                <a:latin typeface="Arial Narrow"/>
              </a:defRPr>
            </a:pPr>
            <a:r>
              <a:t>14.290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02352" y="1490472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fraud-class weight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960120"/>
            <a:ext cx="196596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96912" y="1051560"/>
            <a:ext cx="1819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2E69AE"/>
                </a:solidFill>
                <a:latin typeface="Arial Narrow"/>
              </a:defRPr>
            </a:pPr>
            <a:r>
              <a:t>0.518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96912" y="1490472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legitimate weight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960120"/>
            <a:ext cx="196596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91472" y="1051560"/>
            <a:ext cx="181965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9A003B"/>
                </a:solidFill>
                <a:latin typeface="Arial Narrow"/>
              </a:defRPr>
            </a:pPr>
            <a:r>
              <a:t>472,404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1490472"/>
            <a:ext cx="1819656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training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33172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A003B"/>
                </a:solidFill>
                <a:latin typeface="Arial Narrow"/>
              </a:defRPr>
            </a:pPr>
            <a:r>
              <a:t>Pipeline 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697480"/>
            <a:ext cx="5760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Transaction and identity datasets were loaded separately and joined using TransactionID.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The merged dataset contained 590,540 rows and 434 columns.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Class imbalance: 569,877 legitimate vs 20,663 fraudulent transactions (~3.50% fraud rate).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The final dataset was split into 472,404 training records and 118,136 testing records.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2423160"/>
            <a:ext cx="4572000" cy="160020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812280" y="2423160"/>
            <a:ext cx="4572000" cy="347472"/>
          </a:xfrm>
          <a:prstGeom prst="rect">
            <a:avLst/>
          </a:prstGeom>
          <a:solidFill>
            <a:srgbClr val="3C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49440" y="2487168"/>
            <a:ext cx="4297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Why weighting?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0" y="2898648"/>
            <a:ext cx="429768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The fraud class is the minority class. Giving fraudulent observations a higher weight supports detection of the class that matters most to the fraud objective.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4251960"/>
            <a:ext cx="4572000" cy="123444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812280" y="4251960"/>
            <a:ext cx="457200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40" y="4315968"/>
            <a:ext cx="4297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Testing 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4727448"/>
            <a:ext cx="4297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The implementation records model training time and produces accuracy, precision, recall, F1-score and ROC-AUC for comparative evaluation.</a:t>
            </a:r>
          </a:p>
        </p:txBody>
      </p:sp>
      <p:pic>
        <p:nvPicPr>
          <p:cNvPr id="34" name="object 2">
            <a:extLst>
              <a:ext uri="{FF2B5EF4-FFF2-40B4-BE49-F238E27FC236}">
                <a16:creationId xmlns:a16="http://schemas.microsoft.com/office/drawing/2014/main" id="{80690BCD-1895-6C7E-68DE-A65BDBE6C59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52240" y="5596128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Results: Dataset Profile &amp; Class Imbalance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974400" y="6601968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19" y="6612042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05840"/>
            <a:ext cx="219456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097280"/>
            <a:ext cx="204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9A003B"/>
                </a:solidFill>
                <a:latin typeface="Arial Narrow"/>
              </a:defRPr>
            </a:pPr>
            <a:r>
              <a:t>590,540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1" y="1536192"/>
            <a:ext cx="20482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transaction rows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005840"/>
            <a:ext cx="219456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36392" y="1097280"/>
            <a:ext cx="204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2E69AE"/>
                </a:solidFill>
                <a:latin typeface="Arial Narrow"/>
              </a:defRPr>
            </a:pPr>
            <a:r>
              <a:t>144,233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36392" y="1536192"/>
            <a:ext cx="20482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identity rows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1005840"/>
            <a:ext cx="219456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59552" y="1097280"/>
            <a:ext cx="204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3C8750"/>
                </a:solidFill>
                <a:latin typeface="Arial Narrow"/>
              </a:defRPr>
            </a:pPr>
            <a:r>
              <a:t>434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59552" y="1536192"/>
            <a:ext cx="20482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merged columns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09560" y="1005840"/>
            <a:ext cx="2194560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82712" y="1097280"/>
            <a:ext cx="20482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500" b="1">
                <a:solidFill>
                  <a:srgbClr val="9A003B"/>
                </a:solidFill>
                <a:latin typeface="Arial Narrow"/>
              </a:defRPr>
            </a:pPr>
            <a:r>
              <a:t>3.50%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1536192"/>
            <a:ext cx="204825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5F5F5F"/>
                </a:solidFill>
                <a:latin typeface="Arial"/>
              </a:defRPr>
            </a:pPr>
            <a:r>
              <a:t>fraud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24231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A003B"/>
                </a:solidFill>
                <a:latin typeface="Arial Narrow"/>
              </a:defRPr>
            </a:pPr>
            <a:r>
              <a:t>Class distribution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2926080"/>
            <a:ext cx="8412480" cy="658368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072384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Arial Narrow"/>
              </a:defRPr>
            </a:pPr>
            <a:r>
              <a:t>Legitimate — 569,877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2926080"/>
            <a:ext cx="310896" cy="658368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46920" y="3072384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9A003B"/>
                </a:solidFill>
                <a:latin typeface="Arial Narrow"/>
              </a:defRPr>
            </a:pPr>
            <a:r>
              <a:t>Fraud — 20,663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069080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>
                <a:solidFill>
                  <a:srgbClr val="232323"/>
                </a:solidFill>
                <a:latin typeface="Arial Narrow"/>
              </a:defRPr>
            </a:pPr>
            <a:r>
              <a:t>Implication: overall accuracy can look strong while minority-class detection remains weak.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61772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This motivated class weighting and the use of precision, recall, F1-score, ROC-AUC and confusion matrices.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The evaluation therefore focuses on fraud-class detection rather than accuracy alone.</a:t>
            </a:r>
          </a:p>
        </p:txBody>
      </p:sp>
      <p:pic>
        <p:nvPicPr>
          <p:cNvPr id="28" name="object 2">
            <a:extLst>
              <a:ext uri="{FF2B5EF4-FFF2-40B4-BE49-F238E27FC236}">
                <a16:creationId xmlns:a16="http://schemas.microsoft.com/office/drawing/2014/main" id="{C2E38B04-F6F7-637C-B896-47A0C627B3D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Results: Model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800600" y="6620256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20" y="6615829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13</a:t>
            </a:r>
          </a:p>
        </p:txBody>
      </p:sp>
      <p:pic>
        <p:nvPicPr>
          <p:cNvPr id="9" name="Picture 8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089660"/>
            <a:ext cx="5394960" cy="2072640"/>
          </a:xfrm>
          <a:prstGeom prst="rect">
            <a:avLst/>
          </a:prstGeom>
        </p:spPr>
      </p:pic>
      <p:pic>
        <p:nvPicPr>
          <p:cNvPr id="10" name="Picture 9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132" y="1051560"/>
            <a:ext cx="5149374" cy="2788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3749039"/>
            <a:ext cx="3566160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3749039"/>
            <a:ext cx="356616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3813048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Logistic Regression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24527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Accuracy 74.07%  |  Fraud precision 9.32%  |  Recall 74.43%  |  F1 16.57%  |  ROC-AUC 0.8191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3749039"/>
            <a:ext cx="3566160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43400" y="3749039"/>
            <a:ext cx="3566160" cy="347472"/>
          </a:xfrm>
          <a:prstGeom prst="rect">
            <a:avLst/>
          </a:prstGeom>
          <a:solidFill>
            <a:srgbClr val="3C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3813048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4224527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Accuracy 87.46%  |  Fraud precision 18.40%  |  Recall 76.44%  |  F1 29.66%  |  ROC-AUC 0.8959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3749039"/>
            <a:ext cx="3566160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01000" y="3749039"/>
            <a:ext cx="3566160" cy="34747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38160" y="3813048"/>
            <a:ext cx="32918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Gradient Boosted Trees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224527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Accuracy 86.62%  |  Fraud precision 17.93%  |  Recall 80.13%  |  F1 29.30%  |  ROC-AUC 0.9127</a:t>
            </a:r>
          </a:p>
        </p:txBody>
      </p:sp>
      <p:pic>
        <p:nvPicPr>
          <p:cNvPr id="23" name="object 2">
            <a:extLst>
              <a:ext uri="{FF2B5EF4-FFF2-40B4-BE49-F238E27FC236}">
                <a16:creationId xmlns:a16="http://schemas.microsoft.com/office/drawing/2014/main" id="{EC4AF615-EB06-7903-7538-5C74C6A91085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43680" y="5536692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Results: Predictive Performance vs Computational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879258" y="6601968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620256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14</a:t>
            </a:r>
          </a:p>
        </p:txBody>
      </p:sp>
      <p:pic>
        <p:nvPicPr>
          <p:cNvPr id="9" name="Picture 8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13" y="1005840"/>
            <a:ext cx="4479253" cy="2468880"/>
          </a:xfrm>
          <a:prstGeom prst="rect">
            <a:avLst/>
          </a:prstGeom>
        </p:spPr>
      </p:pic>
      <p:pic>
        <p:nvPicPr>
          <p:cNvPr id="10" name="Picture 9" descr="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0574" y="1005840"/>
            <a:ext cx="2766770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3703320"/>
            <a:ext cx="1737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9A003B"/>
                </a:solidFill>
                <a:latin typeface="Arial Narrow"/>
              </a:defRPr>
            </a:pPr>
            <a:r>
              <a:t>Training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0690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Logistic Regression: 37.31 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Random Forest: 187.83 s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Gradient Boosted Trees: 264.27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3703320"/>
            <a:ext cx="1554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E69AE"/>
                </a:solidFill>
                <a:latin typeface="Arial Narrow"/>
              </a:defRPr>
            </a:pPr>
            <a: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4069080"/>
            <a:ext cx="49834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GBT provides the strongest discrimination (ROC-AUC 0.9127).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Logistic Regression is much faster, but its ROC-AUC is 0.8191.</a:t>
            </a:r>
          </a:p>
          <a:p>
            <a:pPr>
              <a:lnSpc>
                <a:spcPct val="100000"/>
              </a:lnSpc>
              <a:spcAft>
                <a:spcPts val="600"/>
              </a:spcAft>
              <a:defRPr sz="1400">
                <a:solidFill>
                  <a:srgbClr val="232323"/>
                </a:solidFill>
                <a:latin typeface="Arial"/>
              </a:defRPr>
            </a:pPr>
            <a:r>
              <a:t>• The project demonstrates a practical trade-off between predictive capability and computation.</a:t>
            </a:r>
          </a:p>
        </p:txBody>
      </p:sp>
      <p:pic>
        <p:nvPicPr>
          <p:cNvPr id="15" name="object 2">
            <a:extLst>
              <a:ext uri="{FF2B5EF4-FFF2-40B4-BE49-F238E27FC236}">
                <a16:creationId xmlns:a16="http://schemas.microsoft.com/office/drawing/2014/main" id="{76B151DB-6A3F-1A0A-955B-A3E2908F799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597960" y="557784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Results &amp; Validation: Scalability and UAT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709160" y="6620254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6480" y="6616518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15</a:t>
            </a:r>
          </a:p>
        </p:txBody>
      </p:sp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5179" y="1005840"/>
            <a:ext cx="4161881" cy="2560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85800" y="3703320"/>
            <a:ext cx="5074920" cy="132588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5800" y="3703320"/>
            <a:ext cx="507492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767328"/>
            <a:ext cx="4800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Scalability 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78808"/>
            <a:ext cx="4800600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Training data fractions of 25%, 50% and 100% were used. The project considered both predictive behaviour and computational efficiency.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005840"/>
            <a:ext cx="2834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9A003B"/>
                </a:solidFill>
                <a:latin typeface="Arial Narrow"/>
              </a:defRPr>
            </a:pPr>
            <a:r>
              <a:t>User Acceptance 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417320"/>
            <a:ext cx="4937760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5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Dataset loads successfully — Pass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Preprocessing succeeds — Pass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All three models train and generate predictions — Pass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Evaluation metrics generated — Pass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Confusion matrix displayed — Pass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Model comparison and training time available — Pass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Different dataset sizes can be processed/timed — Pass</a:t>
            </a:r>
          </a:p>
          <a:p>
            <a:pPr>
              <a:lnSpc>
                <a:spcPct val="100000"/>
              </a:lnSpc>
              <a:spcAft>
                <a:spcPts val="500"/>
              </a:spcAft>
              <a:defRPr sz="1300">
                <a:solidFill>
                  <a:srgbClr val="232323"/>
                </a:solidFill>
                <a:latin typeface="Arial"/>
              </a:defRPr>
            </a:pPr>
            <a:r>
              <a:t>• GBT identified as highest ROC-AUC model — Pass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41846"/>
            <a:ext cx="9391048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5F5F5F"/>
                </a:solidFill>
                <a:latin typeface="Arial"/>
              </a:defRPr>
            </a:pPr>
            <a:r>
              <a:rPr dirty="0"/>
              <a:t>Limitation: the dissertation does not document formal external beneficiary testing or formal external user-acceptance results.</a:t>
            </a:r>
          </a:p>
        </p:txBody>
      </p:sp>
      <p:pic>
        <p:nvPicPr>
          <p:cNvPr id="17" name="object 2">
            <a:extLst>
              <a:ext uri="{FF2B5EF4-FFF2-40B4-BE49-F238E27FC236}">
                <a16:creationId xmlns:a16="http://schemas.microsoft.com/office/drawing/2014/main" id="{C1B24445-BFB8-A540-C9A1-A60EE051C184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Evaluation: Objective Alignment, Strengths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974400" y="6629400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0320" y="6601968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9A003B"/>
                </a:solidFill>
                <a:latin typeface="Arial Narrow"/>
              </a:defRPr>
            </a:pPr>
            <a:r>
              <a:t>Objective completion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37160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E69AE"/>
                </a:solidFill>
                <a:latin typeface="Arial Narrow"/>
              </a:defRPr>
            </a:pPr>
            <a:r>
              <a:t>O1 — PySpark preprocessing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353312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Achieved: preprocessing, encoding, feature assembly and weighting implemented.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E69AE"/>
                </a:solidFill>
                <a:latin typeface="Arial Narrow"/>
              </a:defRPr>
            </a:pPr>
            <a:r>
              <a:t>O2 — Compare 3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176272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Achieved: Logistic Regression, Random Forest and GBT trained and compared.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01752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E69AE"/>
                </a:solidFill>
                <a:latin typeface="Arial Narrow"/>
              </a:defRPr>
            </a:pPr>
            <a:r>
              <a:t>O3 — Multi-metric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2999232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Achieved: accuracy, precision, recall, F1, ROC-AUC and confusion matrix outputs.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E69AE"/>
                </a:solidFill>
                <a:latin typeface="Arial Narrow"/>
              </a:defRPr>
            </a:pPr>
            <a:r>
              <a:t>O4 — Scalability/efficiency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71800" y="3822192"/>
            <a:ext cx="5212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Achieved at project-test level: training times and 25/50/100% data-size tests recorded.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1143000"/>
            <a:ext cx="3246120" cy="160020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458200" y="1143000"/>
            <a:ext cx="3246120" cy="347472"/>
          </a:xfrm>
          <a:prstGeom prst="rect">
            <a:avLst/>
          </a:prstGeom>
          <a:solidFill>
            <a:srgbClr val="3C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95360" y="1207008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Strengths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1618488"/>
            <a:ext cx="2971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Arial"/>
              </a:defRPr>
            </a:pPr>
            <a:r>
              <a:t>Common distributed framework; multi-metric evaluation; explicit class-imbalance treatment; computational cost measured alongside predictive performance.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2971800"/>
            <a:ext cx="3246120" cy="173736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458200" y="2971800"/>
            <a:ext cx="3246120" cy="34747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595360" y="3035808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Limitations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0" y="3447288"/>
            <a:ext cx="29718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Arial"/>
              </a:defRPr>
            </a:pPr>
            <a:r>
              <a:t>No documented external beneficiary validation; scalability evidence is based on the tested environment and data fractions; real-time deployment was not demonstrated.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91488" y="4973533"/>
            <a:ext cx="3246120" cy="1389888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291488" y="4955647"/>
            <a:ext cx="324612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0" y="5010109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rPr dirty="0"/>
              <a:t>Overall judgement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65808" y="5404104"/>
            <a:ext cx="2971800" cy="4571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rPr dirty="0"/>
              <a:t>The technical objectives were met, with GBT providing the strongest fraud discrimination but at the highest training cost.</a:t>
            </a:r>
          </a:p>
        </p:txBody>
      </p:sp>
      <p:pic>
        <p:nvPicPr>
          <p:cNvPr id="30" name="object 2">
            <a:extLst>
              <a:ext uri="{FF2B5EF4-FFF2-40B4-BE49-F238E27FC236}">
                <a16:creationId xmlns:a16="http://schemas.microsoft.com/office/drawing/2014/main" id="{5685E8B5-22FD-249E-01BE-8646130418C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Conclusion: Resolution of Gaps &amp;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4830097" y="6620256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601968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t>September 2026   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05840"/>
            <a:ext cx="3520440" cy="182880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3520440" cy="34747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069848"/>
            <a:ext cx="3246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Gap addressed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81328"/>
            <a:ext cx="3246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The project goes beyond accuracy-only comparison by evaluating predictive performance, computational cost and scalability within a PySpark framework.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005840"/>
            <a:ext cx="3520440" cy="182880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005840"/>
            <a:ext cx="3520440" cy="347472"/>
          </a:xfrm>
          <a:prstGeom prst="rect">
            <a:avLst/>
          </a:prstGeom>
          <a:solidFill>
            <a:srgbClr val="3C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069848"/>
            <a:ext cx="3246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Best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481328"/>
            <a:ext cx="3246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Gradient Boosted Trees achieved the highest ROC-AUC (0.9127) and fraud recall (80.13%), indicating strongest discrimination.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005840"/>
            <a:ext cx="3520440" cy="182880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005840"/>
            <a:ext cx="352044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80" y="1069848"/>
            <a:ext cx="3246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Efficiency 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481328"/>
            <a:ext cx="32461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Logistic Regression trained in 37.31 s, compared with 187.83 s for Random Forest and 264.27 s for GBT.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9A003B"/>
                </a:solidFill>
                <a:latin typeface="Arial Narrow"/>
              </a:defRPr>
            </a:pPr>
            <a:r>
              <a:t>Answer to the research 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657600"/>
            <a:ext cx="104241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Scalable ML + big-data processing can support fraud detection on large transaction datasets.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GBT provides the strongest overall discrimination among the tested models.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t>• Distributed processing and model choice affect computational cost; scalability must be assessed alongside predictive performance.</a:t>
            </a:r>
          </a:p>
        </p:txBody>
      </p:sp>
      <p:pic>
        <p:nvPicPr>
          <p:cNvPr id="24" name="object 2">
            <a:extLst>
              <a:ext uri="{FF2B5EF4-FFF2-40B4-BE49-F238E27FC236}">
                <a16:creationId xmlns:a16="http://schemas.microsoft.com/office/drawing/2014/main" id="{5B7A30CF-F567-5195-0488-C3D10BF616E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Future Prospects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074920" y="6611112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6480" y="6620256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05840"/>
            <a:ext cx="3246120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05840"/>
            <a:ext cx="324612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069848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Real-time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481328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Extend the PySpark framework towards real-time transaction monitoring.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005840"/>
            <a:ext cx="3246120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160520" y="1005840"/>
            <a:ext cx="3246120" cy="347472"/>
          </a:xfrm>
          <a:prstGeom prst="rect">
            <a:avLst/>
          </a:prstGeom>
          <a:solidFill>
            <a:srgbClr val="3C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97680" y="1069848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Larger datasets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1481328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Test on larger and more diverse financial datasets.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1005840"/>
            <a:ext cx="3246120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80960" y="1005840"/>
            <a:ext cx="3246120" cy="347472"/>
          </a:xfrm>
          <a:prstGeom prst="rect">
            <a:avLst/>
          </a:prstGeom>
          <a:solidFill>
            <a:srgbClr val="3C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18120" y="1069848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Model 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8120" y="1481328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Investigate additional ML/deep-learning algorithms and hyperparameter optimisation.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43200"/>
            <a:ext cx="3246120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2743200"/>
            <a:ext cx="3246120" cy="34747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2807208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Extreme imbalance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218688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Explore stronger approaches for severe class imbalance.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2743200"/>
            <a:ext cx="3246120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60520" y="2743200"/>
            <a:ext cx="324612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97680" y="2807208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Distributed clusters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0" y="3218688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Scale to larger computing clusters for stronger scalability evidence.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2743200"/>
            <a:ext cx="3246120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680960" y="2743200"/>
            <a:ext cx="324612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18120" y="2807208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Adaptive fraud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18120" y="3218688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Automate model retraining to respond to evolving fraud patterns.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160520" y="4480560"/>
            <a:ext cx="3246120" cy="14173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4160520" y="4480560"/>
            <a:ext cx="3246120" cy="34747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297680" y="4544568"/>
            <a:ext cx="2971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Explainable 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956048"/>
            <a:ext cx="2971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Arial"/>
              </a:defRPr>
            </a:pPr>
            <a:r>
              <a:t>Improve interpretability so analysts can understand fraud predictions.</a:t>
            </a:r>
          </a:p>
        </p:txBody>
      </p:sp>
      <p:pic>
        <p:nvPicPr>
          <p:cNvPr id="38" name="object 2">
            <a:extLst>
              <a:ext uri="{FF2B5EF4-FFF2-40B4-BE49-F238E27FC236}">
                <a16:creationId xmlns:a16="http://schemas.microsoft.com/office/drawing/2014/main" id="{90237145-6281-6FC4-F3AE-75C652472ED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References: Key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083769" y="6601968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6480" y="6619121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109728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400"/>
              </a:spcAft>
              <a:defRPr sz="1150">
                <a:solidFill>
                  <a:srgbClr val="232323"/>
                </a:solidFill>
                <a:latin typeface="Arial"/>
              </a:defRPr>
            </a:pPr>
            <a:r>
              <a:t>• Alketbi, A. (2025). Real-Time Fraud Detection using Big Data.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150">
                <a:solidFill>
                  <a:srgbClr val="232323"/>
                </a:solidFill>
                <a:latin typeface="Arial"/>
              </a:defRPr>
            </a:pPr>
            <a:r>
              <a:t>• Bello, A., &amp; Olufemi, K. (2024). Artificial intelligence in fraud prevention: Exploring techniques and applications and challenges and opportunities. Computer Science &amp; IT Research Journal, 5(6), 1505–1520.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150">
                <a:solidFill>
                  <a:srgbClr val="232323"/>
                </a:solidFill>
                <a:latin typeface="Arial"/>
              </a:defRPr>
            </a:pPr>
            <a:r>
              <a:t>• Cheng, C. (2025). Research on Fraudulent Transaction Detection. Applied and Computational Engineering, 158(1), 35–40.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150">
                <a:solidFill>
                  <a:srgbClr val="232323"/>
                </a:solidFill>
                <a:latin typeface="Arial"/>
              </a:defRPr>
            </a:pPr>
            <a:r>
              <a:t>• Gupta, R., Jindal, R., Naik, A., &amp; Tripathi, A. (2025). Applying Logistic Regression for the Detection of Fraudulent Banking Transactions.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150">
                <a:solidFill>
                  <a:srgbClr val="232323"/>
                </a:solidFill>
                <a:latin typeface="Arial"/>
              </a:defRPr>
            </a:pPr>
            <a:r>
              <a:t>• Hareram, S. E. (2025). Technical Review: Apache Spark and PySpark for Distributed Data Processing.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150">
                <a:solidFill>
                  <a:srgbClr val="232323"/>
                </a:solidFill>
                <a:latin typeface="Arial"/>
              </a:defRPr>
            </a:pPr>
            <a:r>
              <a:t>• Liu, C., Tang, H., Yang, Z., Ke, Z., &amp; Cha, S. (2025). Big Data-Driven Fraud Detection Using Machine Learning and Real-Time Stream Processing.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150">
                <a:solidFill>
                  <a:srgbClr val="232323"/>
                </a:solidFill>
                <a:latin typeface="Arial"/>
              </a:defRPr>
            </a:pPr>
            <a:r>
              <a:t>• Naghipour, S. A., Far, &amp; Nazari, R. (2025). Fraud Analytics with Big Data: A Literature Review on Machine Learning Algorithms in Bankruptcy Prediction and Financial Fraud Detection.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150">
                <a:solidFill>
                  <a:srgbClr val="232323"/>
                </a:solidFill>
                <a:latin typeface="Arial"/>
              </a:defRPr>
            </a:pPr>
            <a:r>
              <a:t>• Owen, A., Emma, O., &amp; Adams, R. (2024). Evaluating the Role of Class Imbalance in Fraud Detection Algorithms.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150">
                <a:solidFill>
                  <a:srgbClr val="232323"/>
                </a:solidFill>
                <a:latin typeface="Arial"/>
              </a:defRPr>
            </a:pPr>
            <a:r>
              <a:t>• Theodorakopoulos, L., Theodoropoulou, A., Tsimakis, A., &amp; Halkiopoulos, C. (2025). Big Data-Driven Distributed Machine Learning for Scalable Credit Card Fraud Detection Using PySpark, XGBoost, and CatBoost. Electronics, 14(9), 1754.</a:t>
            </a:r>
          </a:p>
          <a:p>
            <a:pPr>
              <a:lnSpc>
                <a:spcPct val="100000"/>
              </a:lnSpc>
              <a:spcAft>
                <a:spcPts val="400"/>
              </a:spcAft>
              <a:defRPr sz="1150">
                <a:solidFill>
                  <a:srgbClr val="232323"/>
                </a:solidFill>
                <a:latin typeface="Arial"/>
              </a:defRPr>
            </a:pPr>
            <a:r>
              <a:t>• Wiltshire, D., &amp; Alvanides, S. (2022). Ensuring the ethical use of Big Data: lessons from secure data access. Heliyon, 8(2).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053328"/>
            <a:ext cx="10607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0">
                <a:solidFill>
                  <a:srgbClr val="5F5F5F"/>
                </a:solidFill>
                <a:latin typeface="Arial Narrow"/>
              </a:defRPr>
            </a:pPr>
            <a:r>
              <a:t>APA-style details reproduced from the dissertation reference list; full URLs/DOIs are retained in the written report.</a:t>
            </a:r>
          </a:p>
        </p:txBody>
      </p:sp>
      <p:pic>
        <p:nvPicPr>
          <p:cNvPr id="11" name="object 2">
            <a:extLst>
              <a:ext uri="{FF2B5EF4-FFF2-40B4-BE49-F238E27FC236}">
                <a16:creationId xmlns:a16="http://schemas.microsoft.com/office/drawing/2014/main" id="{895FC2F0-51D8-6D48-D968-6A314AED71C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99" cy="71323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10881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Arial Narrow"/>
              </a:defRPr>
            </a:pPr>
            <a:r>
              <a:t>AI Declaration: Transparency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27080" y="155448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FFFFFF"/>
                </a:solidFill>
                <a:latin typeface="Arial"/>
              </a:defRPr>
            </a:pPr>
            <a:r>
              <a:t>AI DECLARATION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-1" y="651967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5349240" y="6583680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SCALABLE FRAUD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86480" y="6583680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51560"/>
            <a:ext cx="3520440" cy="16459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9A0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51560"/>
            <a:ext cx="3520440" cy="347472"/>
          </a:xfrm>
          <a:prstGeom prst="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115568"/>
            <a:ext cx="3246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AITS alignment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527048"/>
            <a:ext cx="3246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The dissertation states that AI tools were used as a supporting resource during preparation, consistent with transparent academic use.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051560"/>
            <a:ext cx="3520440" cy="16459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2E69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051560"/>
            <a:ext cx="3520440" cy="347472"/>
          </a:xfrm>
          <a:prstGeom prst="rect">
            <a:avLst/>
          </a:prstGeom>
          <a:solidFill>
            <a:srgbClr val="2E69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1115568"/>
            <a:ext cx="3246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AI-supported activities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1527048"/>
            <a:ext cx="3246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Clarity and structure of writing; language and grammar checking; organising ideas; refinement of academic wording.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051560"/>
            <a:ext cx="3520440" cy="1645920"/>
          </a:xfrm>
          <a:prstGeom prst="roundRect">
            <a:avLst/>
          </a:prstGeom>
          <a:solidFill>
            <a:srgbClr val="E8F1FA"/>
          </a:solidFill>
          <a:ln w="15240">
            <a:solidFill>
              <a:srgbClr val="3C8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051560"/>
            <a:ext cx="3520440" cy="347472"/>
          </a:xfrm>
          <a:prstGeom prst="rect">
            <a:avLst/>
          </a:prstGeom>
          <a:solidFill>
            <a:srgbClr val="3C87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80" y="1115568"/>
            <a:ext cx="3246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Arial Narrow"/>
              </a:defRPr>
            </a:pPr>
            <a:r>
              <a:t>Human contribution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1527048"/>
            <a:ext cx="3246120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232323"/>
                </a:solidFill>
                <a:latin typeface="Arial"/>
              </a:defRPr>
            </a:pPr>
            <a:r>
              <a:t>The research topic, objectives, methodology, analysis, interpretation and conclusions were developed and critically evaluated by the student.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46120"/>
            <a:ext cx="342900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900" b="1">
                <a:solidFill>
                  <a:srgbClr val="9A003B"/>
                </a:solidFill>
                <a:latin typeface="Arial Narrow"/>
              </a:defRPr>
            </a:pPr>
            <a:r>
              <a:rPr dirty="0"/>
              <a:t>Academic integrity position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rPr dirty="0"/>
              <a:t>• AI-assisted content was reviewed, verified and edited before inclusion.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rPr dirty="0"/>
              <a:t>• Academic claims were independently sourced and referenced.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rPr dirty="0"/>
              <a:t>• AI was not used as a replacement for independent critical thinking or academic judgement.</a:t>
            </a:r>
          </a:p>
          <a:p>
            <a:pPr>
              <a:lnSpc>
                <a:spcPct val="100000"/>
              </a:lnSpc>
              <a:spcAft>
                <a:spcPts val="700"/>
              </a:spcAft>
              <a:defRPr sz="1500">
                <a:solidFill>
                  <a:srgbClr val="232323"/>
                </a:solidFill>
                <a:latin typeface="Arial"/>
              </a:defRPr>
            </a:pPr>
            <a:r>
              <a:rPr dirty="0"/>
              <a:t>• Responsibility for accuracy, originality, integrity and final content remains with the student.</a:t>
            </a:r>
          </a:p>
        </p:txBody>
      </p:sp>
      <p:pic>
        <p:nvPicPr>
          <p:cNvPr id="23" name="object 2">
            <a:extLst>
              <a:ext uri="{FF2B5EF4-FFF2-40B4-BE49-F238E27FC236}">
                <a16:creationId xmlns:a16="http://schemas.microsoft.com/office/drawing/2014/main" id="{1AACEC20-49E8-0B69-5C51-FA60A38F7B0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181BCD2C-6605-410A-BC02-91310B7F44D1}"/>
              </a:ext>
            </a:extLst>
          </p:cNvPr>
          <p:cNvSpPr txBox="1"/>
          <p:nvPr/>
        </p:nvSpPr>
        <p:spPr>
          <a:xfrm>
            <a:off x="91747" y="6583680"/>
            <a:ext cx="594360" cy="207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TS(SHU)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40080" y="1143000"/>
            <a:ext cx="10881360" cy="1143000"/>
          </a:xfrm>
          <a:prstGeom prst="roundRect">
            <a:avLst/>
          </a:prstGeom>
          <a:solidFill>
            <a:srgbClr val="9A00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53312"/>
            <a:ext cx="10332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rial Narrow"/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880360"/>
            <a:ext cx="8503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300" b="1">
                <a:solidFill>
                  <a:srgbClr val="232323"/>
                </a:solidFill>
                <a:latin typeface="Arial Narrow"/>
              </a:defRPr>
            </a:pPr>
            <a:r>
              <a:rPr dirty="0"/>
              <a:t>Questions &amp; Academic Discussion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3794760"/>
            <a:ext cx="93268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0">
                <a:solidFill>
                  <a:srgbClr val="5F5F5F"/>
                </a:solidFill>
                <a:latin typeface="Arial"/>
              </a:defRPr>
            </a:pPr>
            <a:r>
              <a:rPr dirty="0"/>
              <a:t>Research on Scalable Machine Learning for Fraud Detection using Big Data Technologies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740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" y="6601968"/>
            <a:ext cx="574196" cy="2077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T</a:t>
            </a:r>
            <a:r>
              <a:rPr lang="en-US" dirty="0"/>
              <a:t>S(SHU)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5237152" y="6623546"/>
            <a:ext cx="62179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>
                <a:solidFill>
                  <a:srgbClr val="FFFFFF"/>
                </a:solidFill>
                <a:latin typeface="Arial"/>
              </a:defRPr>
            </a:pPr>
            <a:r>
              <a:t>SCALABLE FRAUD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601968"/>
            <a:ext cx="20116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al"/>
              </a:defRPr>
            </a:pPr>
            <a:r>
              <a:rPr dirty="0"/>
              <a:t>September 2026   21</a:t>
            </a:r>
          </a:p>
        </p:txBody>
      </p:sp>
      <p:pic>
        <p:nvPicPr>
          <p:cNvPr id="11" name="object 2">
            <a:extLst>
              <a:ext uri="{FF2B5EF4-FFF2-40B4-BE49-F238E27FC236}">
                <a16:creationId xmlns:a16="http://schemas.microsoft.com/office/drawing/2014/main" id="{108A3410-F091-2F52-4176-9B468CC7C69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97440" y="4983480"/>
            <a:ext cx="1389760" cy="8503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2502</Words>
  <Application>Microsoft Office PowerPoint</Application>
  <PresentationFormat>Widescreen</PresentationFormat>
  <Paragraphs>333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tarun singuluri</cp:lastModifiedBy>
  <cp:revision>10</cp:revision>
  <dcterms:created xsi:type="dcterms:W3CDTF">2013-01-27T09:14:16Z</dcterms:created>
  <dcterms:modified xsi:type="dcterms:W3CDTF">2026-09-17T02:25:53Z</dcterms:modified>
  <cp:category/>
</cp:coreProperties>
</file>